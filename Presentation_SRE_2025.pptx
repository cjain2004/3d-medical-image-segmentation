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317" r:id="rId5"/>
    <p:sldId id="309" r:id="rId6"/>
    <p:sldId id="263" r:id="rId7"/>
    <p:sldId id="310" r:id="rId8"/>
    <p:sldId id="311" r:id="rId9"/>
    <p:sldId id="318" r:id="rId10"/>
    <p:sldId id="312" r:id="rId11"/>
    <p:sldId id="320" r:id="rId12"/>
    <p:sldId id="319" r:id="rId13"/>
    <p:sldId id="321" r:id="rId14"/>
    <p:sldId id="316" r:id="rId15"/>
    <p:sldId id="314" r:id="rId16"/>
    <p:sldId id="322" r:id="rId17"/>
    <p:sldId id="315" r:id="rId18"/>
    <p:sldId id="323" r:id="rId19"/>
    <p:sldId id="325" r:id="rId20"/>
    <p:sldId id="324" r:id="rId21"/>
    <p:sldId id="30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D"/>
    <a:srgbClr val="000000"/>
    <a:srgbClr val="636A58"/>
    <a:srgbClr val="505A47"/>
    <a:srgbClr val="D1D8B7"/>
    <a:srgbClr val="A09D79"/>
    <a:srgbClr val="AD5C4D"/>
    <a:srgbClr val="543E35"/>
    <a:srgbClr val="637700"/>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8" d="100"/>
          <a:sy n="78" d="100"/>
        </p:scale>
        <p:origin x="878"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11/24/2025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11/24/2025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9D40-0F2A-674E-1E62-F997E52E3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741CD-07DB-29C9-6BC3-A52D3558BA9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02996A-4761-C192-8833-1E909D7C97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B0FAEF-F375-8360-BCCF-8AAA8CC61B86}"/>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819155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B28F0-3699-E434-E92E-7864BBBAA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B4B95-F70E-34B2-40A9-ED31A72B9B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A85D82C-FBC2-9130-9DEB-3CC2F8C11C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E5BB77-8992-C220-E27B-EA073695B05F}"/>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15207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AE7C2-FA34-44E6-154E-FCE2533C8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461B9-935F-6540-F356-5DEB02495F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0B059A-6295-6578-544D-1589061639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CC33FA-7A93-7CBE-B078-FA898885710C}"/>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789496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2779F-3A6D-25BE-4155-8D8733983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545A8-6294-1D84-9AAE-F7A4C0F4B19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C31D81-A32D-3C6E-88BF-38BAA2B566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F138B2-06E7-1DB7-A506-1E74C7027188}"/>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2239183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BF5BE-13DE-6EEA-FF35-8E568688B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2CB77-7490-C6F4-FD1A-0A5F8344636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71BBBD1-FF21-292C-7228-FB3C1B991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59187A-B31C-FECE-369B-A3CDE07FEBEF}"/>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782109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BD637-61C4-381D-D11B-4C18FBCC0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59E35-4556-B237-C20F-BCE9815CA99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58C3282-8E65-ACBF-018F-F26A1B4B2B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5D5DF5-AD85-634B-8BDC-23AFC02AEB15}"/>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2813271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EE 451</a:t>
            </a:r>
            <a:br>
              <a:rPr lang="en-US" dirty="0"/>
            </a:br>
            <a:r>
              <a:rPr lang="en-US" sz="3600" dirty="0"/>
              <a:t>Supervised Research Exposition</a:t>
            </a:r>
            <a:br>
              <a:rPr lang="en-US" dirty="0"/>
            </a:br>
            <a:r>
              <a:rPr lang="en-US" dirty="0"/>
              <a:t>(SRE)</a:t>
            </a:r>
            <a:br>
              <a:rPr lang="en-US" dirty="0"/>
            </a:br>
            <a:br>
              <a:rPr lang="en-US" dirty="0"/>
            </a:br>
            <a:r>
              <a:rPr lang="en-US" sz="4000" b="1" u="sng" dirty="0">
                <a:latin typeface="Agency FB" panose="020B0503020202020204" pitchFamily="34" charset="0"/>
              </a:rPr>
              <a:t>3d Interactive Segmentation</a:t>
            </a:r>
            <a:br>
              <a:rPr lang="en-US" sz="3200" dirty="0"/>
            </a:br>
            <a:br>
              <a:rPr lang="en-US" sz="3200" dirty="0"/>
            </a:br>
            <a:r>
              <a:rPr lang="en-US" sz="2400" dirty="0"/>
              <a:t>Guide: Prof. Amit Sethi</a:t>
            </a:r>
            <a:br>
              <a:rPr lang="en-US" dirty="0"/>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383458" y="236544"/>
            <a:ext cx="7534656" cy="914400"/>
          </a:xfrm>
        </p:spPr>
        <p:txBody>
          <a:bodyPr/>
          <a:lstStyle/>
          <a:p>
            <a:r>
              <a:rPr lang="en-US" sz="3200" dirty="0"/>
              <a:t>INTRODUCTION &amp; CHALLENGES</a:t>
            </a:r>
            <a:endParaRPr lang="en-US"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176784" y="1293512"/>
            <a:ext cx="10068212" cy="5244940"/>
          </a:xfrm>
        </p:spPr>
        <p:txBody>
          <a:bodyPr>
            <a:normAutofit fontScale="92500" lnSpcReduction="10000"/>
          </a:bodyPr>
          <a:lstStyle/>
          <a:p>
            <a:r>
              <a:rPr lang="en-US" dirty="0"/>
              <a:t>Medical image segmentation is essential for diagnosis, surgical planning, AR-guided surgery, and treatment monitoring, but manual annotation remains slow, often 10–50 minutes per MRI series.</a:t>
            </a:r>
          </a:p>
          <a:p>
            <a:r>
              <a:rPr lang="en-US" dirty="0"/>
              <a:t>Radiology is highly resource-intensive; even partial automation for narrow segmentation tasks can save hospitals and patients millions of $$ annually.</a:t>
            </a:r>
          </a:p>
          <a:p>
            <a:r>
              <a:rPr lang="en-US" dirty="0"/>
              <a:t>Fully automatic systems cannot yet be trusted for clinically critical segmentation, so expert oversight is still necessary.</a:t>
            </a:r>
          </a:p>
          <a:p>
            <a:r>
              <a:rPr lang="en-US" dirty="0"/>
              <a:t>This motivates </a:t>
            </a:r>
            <a:r>
              <a:rPr lang="en-US" b="1" dirty="0"/>
              <a:t>Interactive Segmentation</a:t>
            </a:r>
            <a:r>
              <a:rPr lang="en-US" dirty="0"/>
              <a:t>, where the model performs most of the work and the user provides minimal corrective clicks-</a:t>
            </a:r>
            <a:r>
              <a:rPr lang="en-US" b="1" dirty="0"/>
              <a:t>automatic AI + human corrections → reliable, clinically usable results</a:t>
            </a:r>
            <a:r>
              <a:rPr lang="en-US" dirty="0"/>
              <a:t>.</a:t>
            </a:r>
          </a:p>
          <a:p>
            <a:pPr marL="0" indent="0">
              <a:buNone/>
            </a:pPr>
            <a:r>
              <a:rPr lang="en-US" dirty="0"/>
              <a:t>This problem is not trivial to solve, a couple of challenges:</a:t>
            </a:r>
          </a:p>
          <a:p>
            <a:r>
              <a:rPr lang="en-US" b="1" dirty="0"/>
              <a:t>Sparse and costly annotations:</a:t>
            </a:r>
            <a:r>
              <a:rPr lang="en-US" dirty="0"/>
              <a:t> Expert-labeled medical data is limited because annotations take a long time and require trained radiologists, leading to smaller, less diverse training datasets.</a:t>
            </a:r>
          </a:p>
          <a:p>
            <a:r>
              <a:rPr lang="en-US" b="1" dirty="0"/>
              <a:t>High clinical reliability requirement:</a:t>
            </a:r>
            <a:r>
              <a:rPr lang="en-US" dirty="0"/>
              <a:t> Even small segmentation errors can affect diagnosis or treatment planning, so models must be extremely accurate and robust, much more than typical computer-vision tasks.</a:t>
            </a:r>
          </a:p>
          <a:p>
            <a:r>
              <a:rPr lang="en-US" b="1" dirty="0"/>
              <a:t>Low image quality &amp; noise</a:t>
            </a:r>
            <a:r>
              <a:rPr lang="en-US" dirty="0"/>
              <a:t>: MRI/CT scans often suffer from noise, motion artifacts, low contrast, and irregular shapes, which makes boundaries difficult for models to detect reliably.</a:t>
            </a:r>
            <a:br>
              <a:rPr lang="en-US" dirty="0"/>
            </a:br>
            <a:endParaRPr lang="en-US" dirty="0"/>
          </a:p>
          <a:p>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pic>
        <p:nvPicPr>
          <p:cNvPr id="3074" name="Picture 2" descr="Swin Unet3D: a three-dimensional medical image segmentation network  combining vision transformer and convolution | BMC Medical Informatics and  Decision Making | Full Text">
            <a:extLst>
              <a:ext uri="{FF2B5EF4-FFF2-40B4-BE49-F238E27FC236}">
                <a16:creationId xmlns:a16="http://schemas.microsoft.com/office/drawing/2014/main" id="{D3E5F161-9B29-A4C3-F9D5-B002EABF0B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990"/>
          <a:stretch>
            <a:fillRect/>
          </a:stretch>
        </p:blipFill>
        <p:spPr bwMode="auto">
          <a:xfrm>
            <a:off x="10355805" y="121740"/>
            <a:ext cx="1548602" cy="24420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Swin Unet3D: a three-dimensional medical image segmentation network  combining vision transformer and convolution | BMC Medical Informatics and  Decision Making | Full Text">
            <a:extLst>
              <a:ext uri="{FF2B5EF4-FFF2-40B4-BE49-F238E27FC236}">
                <a16:creationId xmlns:a16="http://schemas.microsoft.com/office/drawing/2014/main" id="{67F24F15-9771-EA57-E5E5-6EBF87848A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424" r="75991"/>
          <a:stretch>
            <a:fillRect/>
          </a:stretch>
        </p:blipFill>
        <p:spPr bwMode="auto">
          <a:xfrm>
            <a:off x="10355805" y="2563834"/>
            <a:ext cx="1548602" cy="19677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win Unet3D: a three-dimensional medical image segmentation network  combining vision transformer and convolution | BMC Medical Informatics and  Decision Making | Full Text">
            <a:extLst>
              <a:ext uri="{FF2B5EF4-FFF2-40B4-BE49-F238E27FC236}">
                <a16:creationId xmlns:a16="http://schemas.microsoft.com/office/drawing/2014/main" id="{BF399511-8495-6CC9-4B46-11E215A0C4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219" t="19424" r="52095"/>
          <a:stretch>
            <a:fillRect/>
          </a:stretch>
        </p:blipFill>
        <p:spPr bwMode="auto">
          <a:xfrm>
            <a:off x="10355805" y="4531582"/>
            <a:ext cx="1548602" cy="2178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91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5924" y="1415845"/>
            <a:ext cx="10360152" cy="2843784"/>
          </a:xfrm>
        </p:spPr>
        <p:txBody>
          <a:bodyPr anchor="b"/>
          <a:lstStyle/>
          <a:p>
            <a:r>
              <a:rPr lang="en-US" dirty="0"/>
              <a:t>Existing Research</a:t>
            </a:r>
            <a:br>
              <a:rPr lang="en-US" dirty="0"/>
            </a:br>
            <a:r>
              <a:rPr lang="en-US" dirty="0"/>
              <a:t>&amp; </a:t>
            </a:r>
            <a:br>
              <a:rPr lang="en-US" dirty="0"/>
            </a:br>
            <a:r>
              <a:rPr lang="en-US" dirty="0"/>
              <a:t>Their Shortcomings</a:t>
            </a:r>
          </a:p>
        </p:txBody>
      </p:sp>
    </p:spTree>
    <p:extLst>
      <p:ext uri="{BB962C8B-B14F-4D97-AF65-F5344CB8AC3E}">
        <p14:creationId xmlns:p14="http://schemas.microsoft.com/office/powerpoint/2010/main" val="1096717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176784" y="831712"/>
            <a:ext cx="9920748" cy="5392108"/>
          </a:xfrm>
        </p:spPr>
        <p:txBody>
          <a:bodyPr>
            <a:noAutofit/>
          </a:bodyPr>
          <a:lstStyle/>
          <a:p>
            <a:pPr marL="342900" indent="-342900">
              <a:buFont typeface="Arial" panose="020B0604020202020204" pitchFamily="34" charset="0"/>
              <a:buChar char="•"/>
            </a:pPr>
            <a:r>
              <a:rPr lang="en-US" b="1" dirty="0"/>
              <a:t>Classical interactive methods </a:t>
            </a:r>
            <a:r>
              <a:rPr lang="en-US" dirty="0"/>
              <a:t>like Graph Cuts, Random Walker, and </a:t>
            </a:r>
            <a:r>
              <a:rPr lang="en-US" dirty="0" err="1"/>
              <a:t>GeoS</a:t>
            </a:r>
            <a:r>
              <a:rPr lang="en-US" dirty="0"/>
              <a:t> remain used but struggle with noisy scans, irregular shapes, and weak boundaries leading to slow workflows and limited accuracy. Deep learning has largely replaced them.</a:t>
            </a:r>
          </a:p>
          <a:p>
            <a:pPr marL="342900" indent="-342900">
              <a:buFont typeface="Arial" panose="020B0604020202020204" pitchFamily="34" charset="0"/>
              <a:buChar char="•"/>
            </a:pPr>
            <a:r>
              <a:rPr lang="en-US" b="1" dirty="0"/>
              <a:t>Modern deep learning models</a:t>
            </a:r>
            <a:r>
              <a:rPr lang="en-US" dirty="0"/>
              <a:t>: Primarily encoder–decoder architectures achieve state-of-the-art performance across these segmentation tasks. These systems are powerful but fully automatic-We can’t have fully automatic systems in this application; they offer no mechanism for clinician intervention. For many clinical applications that requires expert validation or correction, purely automatic segmentation is insufficient.</a:t>
            </a:r>
          </a:p>
          <a:p>
            <a:pPr marL="342900" indent="-342900">
              <a:buFont typeface="Arial" panose="020B0604020202020204" pitchFamily="34" charset="0"/>
              <a:buChar char="•"/>
            </a:pPr>
            <a:r>
              <a:rPr lang="en-US" b="1" dirty="0"/>
              <a:t>Interactive deep learning systems </a:t>
            </a:r>
            <a:r>
              <a:rPr lang="en-US" dirty="0"/>
              <a:t>attempt to combine model predictions with user feedback. Early systems used classical methods to refine automatic outputs, inheriting their limitations. Neural interactive systems accept images plus user masks, but training them is difficult because the input depends on previous outputs. Static Data Generation (SDG) builds user clicks before training, but does not reflect real sequential corrections and limits generalization.</a:t>
            </a:r>
          </a:p>
          <a:p>
            <a:pPr marL="342900" indent="-342900">
              <a:buFont typeface="Arial" panose="020B0604020202020204" pitchFamily="34" charset="0"/>
              <a:buChar char="•"/>
            </a:pPr>
            <a:r>
              <a:rPr lang="en-US" dirty="0"/>
              <a:t>Some other researchers have tried to build upon a memory which keeps all corrections between final image and first prediction. Existing works store all the interactions in the same mask, discarding the order of the interactions and hence the temporal information. We call such input structures </a:t>
            </a:r>
            <a:r>
              <a:rPr lang="en-US" b="1" dirty="0"/>
              <a:t>Cumulative Interaction Memory (CIM)</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42301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437535" y="403123"/>
            <a:ext cx="11316929" cy="914400"/>
          </a:xfrm>
        </p:spPr>
        <p:txBody>
          <a:bodyPr/>
          <a:lstStyle/>
          <a:p>
            <a:r>
              <a:rPr lang="en-US" sz="3200" dirty="0"/>
              <a:t>A Novel </a:t>
            </a:r>
            <a:r>
              <a:rPr lang="en-US" dirty="0"/>
              <a:t>I</a:t>
            </a:r>
            <a:r>
              <a:rPr lang="en-US" sz="3200" dirty="0"/>
              <a:t>dea by </a:t>
            </a:r>
            <a:r>
              <a:rPr lang="fr-FR" i="1" dirty="0"/>
              <a:t>I. </a:t>
            </a:r>
            <a:r>
              <a:rPr lang="fr-FR" i="1" dirty="0" err="1"/>
              <a:t>Mikhailov</a:t>
            </a:r>
            <a:r>
              <a:rPr lang="fr-FR" i="1" dirty="0"/>
              <a:t>, B. Chauveau, N. </a:t>
            </a:r>
            <a:r>
              <a:rPr lang="fr-FR" i="1" dirty="0" err="1"/>
              <a:t>Bourdel</a:t>
            </a:r>
            <a:r>
              <a:rPr lang="fr-FR" i="1" dirty="0"/>
              <a:t> et al.</a:t>
            </a:r>
            <a:endParaRPr lang="en-US" i="1"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1258527" y="1654460"/>
            <a:ext cx="9468466" cy="2149430"/>
          </a:xfrm>
        </p:spPr>
        <p:txBody>
          <a:bodyPr/>
          <a:lstStyle/>
          <a:p>
            <a:pPr marL="342900" indent="-342900">
              <a:buFont typeface="Arial" panose="020B0604020202020204" pitchFamily="34" charset="0"/>
              <a:buChar char="•"/>
            </a:pPr>
            <a:r>
              <a:rPr lang="en-US" dirty="0"/>
              <a:t>The researchers have proposed a new type of memory as opposed to CIM- they propose to use SIM (Sequential Interactive Memory) </a:t>
            </a:r>
          </a:p>
          <a:p>
            <a:pPr marL="342900" indent="-342900">
              <a:buFont typeface="Arial" panose="020B0604020202020204" pitchFamily="34" charset="0"/>
              <a:buChar char="•"/>
            </a:pPr>
            <a:r>
              <a:rPr lang="en-US" dirty="0"/>
              <a:t>SIM stores the ordered sequence of user clicks and corresponding segmentations, preserving interaction history. The network takes the image and SIM, produces a new segmentation, and then updates the SIM with the latest click and result for the next refinement.</a:t>
            </a:r>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6146" name="Picture 2">
            <a:extLst>
              <a:ext uri="{FF2B5EF4-FFF2-40B4-BE49-F238E27FC236}">
                <a16:creationId xmlns:a16="http://schemas.microsoft.com/office/drawing/2014/main" id="{07BF0421-0E5D-090B-4552-6560298B49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092" y="3590492"/>
            <a:ext cx="8616592" cy="31446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0">
            <a:extLst>
              <a:ext uri="{FF2B5EF4-FFF2-40B4-BE49-F238E27FC236}">
                <a16:creationId xmlns:a16="http://schemas.microsoft.com/office/drawing/2014/main" id="{24E0E4CF-F818-E4D3-D5CF-9E86FB723E24}"/>
              </a:ext>
            </a:extLst>
          </p:cNvPr>
          <p:cNvSpPr txBox="1">
            <a:spLocks/>
          </p:cNvSpPr>
          <p:nvPr/>
        </p:nvSpPr>
        <p:spPr>
          <a:xfrm>
            <a:off x="176784" y="6454877"/>
            <a:ext cx="7438103" cy="268034"/>
          </a:xfrm>
          <a:prstGeom prst="rect">
            <a:avLst/>
          </a:prstGeom>
        </p:spPr>
        <p:txBody>
          <a:bodyPr vert="horz" lIns="91440" tIns="45720" rIns="91440" bIns="45720" rtlCol="0" anchor="b" anchorCtr="0">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IN" sz="1000" dirty="0">
                <a:solidFill>
                  <a:schemeClr val="accent5">
                    <a:lumMod val="60000"/>
                    <a:lumOff val="40000"/>
                  </a:schemeClr>
                </a:solidFill>
              </a:rPr>
              <a:t>Image source:  https://www.sciencedirect.com/science/article/pii/S0169260724000348</a:t>
            </a:r>
            <a:endParaRPr lang="en-US" sz="1000" i="1" dirty="0">
              <a:solidFill>
                <a:schemeClr val="accent5">
                  <a:lumMod val="60000"/>
                  <a:lumOff val="40000"/>
                </a:schemeClr>
              </a:solidFill>
            </a:endParaRPr>
          </a:p>
        </p:txBody>
      </p:sp>
    </p:spTree>
    <p:extLst>
      <p:ext uri="{BB962C8B-B14F-4D97-AF65-F5344CB8AC3E}">
        <p14:creationId xmlns:p14="http://schemas.microsoft.com/office/powerpoint/2010/main" val="374834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9DD1-C5BC-610D-A515-F8E8EC2BA57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E713BDC-BB47-9CBE-590B-89A0702D764F}"/>
              </a:ext>
            </a:extLst>
          </p:cNvPr>
          <p:cNvSpPr>
            <a:spLocks noGrp="1"/>
          </p:cNvSpPr>
          <p:nvPr>
            <p:ph type="title"/>
          </p:nvPr>
        </p:nvSpPr>
        <p:spPr>
          <a:xfrm>
            <a:off x="8849228" y="1292941"/>
            <a:ext cx="1425481" cy="914400"/>
          </a:xfrm>
        </p:spPr>
        <p:txBody>
          <a:bodyPr/>
          <a:lstStyle/>
          <a:p>
            <a:r>
              <a:rPr lang="en-IN" sz="3200" dirty="0"/>
              <a:t> SI</a:t>
            </a:r>
            <a:r>
              <a:rPr lang="en-IN" dirty="0"/>
              <a:t>M</a:t>
            </a:r>
            <a:endParaRPr lang="en-US" i="1" dirty="0"/>
          </a:p>
        </p:txBody>
      </p:sp>
      <p:sp>
        <p:nvSpPr>
          <p:cNvPr id="5" name="Slide Number Placeholder 4">
            <a:extLst>
              <a:ext uri="{FF2B5EF4-FFF2-40B4-BE49-F238E27FC236}">
                <a16:creationId xmlns:a16="http://schemas.microsoft.com/office/drawing/2014/main" id="{F3D56861-B534-9A12-E09F-663F3E1BC10F}"/>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
        <p:nvSpPr>
          <p:cNvPr id="4" name="Rectangle 1">
            <a:extLst>
              <a:ext uri="{FF2B5EF4-FFF2-40B4-BE49-F238E27FC236}">
                <a16:creationId xmlns:a16="http://schemas.microsoft.com/office/drawing/2014/main" id="{B1052332-C23C-F187-23E1-0F7027DDDD8E}"/>
              </a:ext>
            </a:extLst>
          </p:cNvPr>
          <p:cNvSpPr>
            <a:spLocks noGrp="1" noChangeArrowheads="1"/>
          </p:cNvSpPr>
          <p:nvPr>
            <p:ph sz="quarter" idx="13"/>
          </p:nvPr>
        </p:nvSpPr>
        <p:spPr bwMode="auto">
          <a:xfrm>
            <a:off x="7305368" y="2336337"/>
            <a:ext cx="4709848" cy="2600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SIM tracks two things each round:</a:t>
            </a:r>
          </a:p>
          <a:p>
            <a:pPr lvl="1"/>
            <a:r>
              <a:rPr lang="en-US" sz="1800" b="1" dirty="0"/>
              <a:t>Click maps</a:t>
            </a:r>
            <a:r>
              <a:rPr lang="en-US" sz="1800" dirty="0"/>
              <a:t> (user corrections)- 1 map/class</a:t>
            </a:r>
          </a:p>
          <a:p>
            <a:pPr lvl="1"/>
            <a:r>
              <a:rPr lang="en-US" sz="1800" b="1" dirty="0"/>
              <a:t>Class logits maps</a:t>
            </a:r>
            <a:r>
              <a:rPr lang="en-US" sz="1800" dirty="0"/>
              <a:t> (model beliefs)- 1 map/class</a:t>
            </a:r>
          </a:p>
          <a:p>
            <a:r>
              <a:rPr lang="en-US" sz="1800" dirty="0"/>
              <a:t>Stacked over </a:t>
            </a:r>
            <a:r>
              <a:rPr lang="en-US" sz="1800" b="1" dirty="0"/>
              <a:t>D rounds</a:t>
            </a:r>
            <a:r>
              <a:rPr lang="en-US" sz="1800" dirty="0"/>
              <a:t>, they form the full model–user interaction history.</a:t>
            </a:r>
          </a:p>
          <a:p>
            <a:pPr marL="228600" lvl="1" indent="0">
              <a:buNone/>
            </a:pPr>
            <a:r>
              <a:rPr lang="en-US" sz="1800" b="1" i="1" u="sng" dirty="0"/>
              <a:t>So, in total (1+1)*N*D=2DN maps, this is the size of SIM</a:t>
            </a:r>
            <a:endParaRPr lang="en-US" sz="1800" b="1" u="sng" dirty="0"/>
          </a:p>
        </p:txBody>
      </p:sp>
      <p:sp>
        <p:nvSpPr>
          <p:cNvPr id="13" name="Title 10">
            <a:extLst>
              <a:ext uri="{FF2B5EF4-FFF2-40B4-BE49-F238E27FC236}">
                <a16:creationId xmlns:a16="http://schemas.microsoft.com/office/drawing/2014/main" id="{F80D8B3F-F7DE-CD3F-D782-C7283A1D5731}"/>
              </a:ext>
            </a:extLst>
          </p:cNvPr>
          <p:cNvSpPr txBox="1">
            <a:spLocks/>
          </p:cNvSpPr>
          <p:nvPr/>
        </p:nvSpPr>
        <p:spPr>
          <a:xfrm>
            <a:off x="7783660" y="776748"/>
            <a:ext cx="3903407" cy="9144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endParaRPr lang="en-US" i="1" dirty="0"/>
          </a:p>
        </p:txBody>
      </p:sp>
      <p:sp>
        <p:nvSpPr>
          <p:cNvPr id="24" name="Title 10">
            <a:extLst>
              <a:ext uri="{FF2B5EF4-FFF2-40B4-BE49-F238E27FC236}">
                <a16:creationId xmlns:a16="http://schemas.microsoft.com/office/drawing/2014/main" id="{D43C06BF-555D-88E0-5078-69BDBB515EFB}"/>
              </a:ext>
            </a:extLst>
          </p:cNvPr>
          <p:cNvSpPr txBox="1">
            <a:spLocks/>
          </p:cNvSpPr>
          <p:nvPr/>
        </p:nvSpPr>
        <p:spPr>
          <a:xfrm>
            <a:off x="555327" y="365538"/>
            <a:ext cx="5771536" cy="146992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IN" dirty="0"/>
              <a:t>How does the virtual user decide to place clicks (</a:t>
            </a:r>
            <a:r>
              <a:rPr lang="en-IN" i="1" dirty="0"/>
              <a:t>DDG Rules</a:t>
            </a:r>
            <a:r>
              <a:rPr lang="en-IN" dirty="0"/>
              <a:t>)</a:t>
            </a:r>
            <a:endParaRPr lang="en-US" i="1" dirty="0"/>
          </a:p>
        </p:txBody>
      </p:sp>
      <p:sp>
        <p:nvSpPr>
          <p:cNvPr id="25" name="TextBox 24">
            <a:extLst>
              <a:ext uri="{FF2B5EF4-FFF2-40B4-BE49-F238E27FC236}">
                <a16:creationId xmlns:a16="http://schemas.microsoft.com/office/drawing/2014/main" id="{EBE020FF-7418-AF41-E794-9FB630492EEC}"/>
              </a:ext>
            </a:extLst>
          </p:cNvPr>
          <p:cNvSpPr txBox="1"/>
          <p:nvPr/>
        </p:nvSpPr>
        <p:spPr>
          <a:xfrm>
            <a:off x="555327" y="1835460"/>
            <a:ext cx="6248596" cy="4801314"/>
          </a:xfrm>
          <a:prstGeom prst="rect">
            <a:avLst/>
          </a:prstGeom>
          <a:noFill/>
        </p:spPr>
        <p:txBody>
          <a:bodyPr wrap="square">
            <a:spAutoFit/>
          </a:bodyPr>
          <a:lstStyle/>
          <a:p>
            <a:pPr marL="285750" indent="-285750">
              <a:buFont typeface="Arial" panose="020B0604020202020204" pitchFamily="34" charset="0"/>
              <a:buChar char="•"/>
            </a:pPr>
            <a:r>
              <a:rPr lang="en-US" dirty="0"/>
              <a:t>Every disconnected erroneous region is identified separately and are sorted on basis of size.</a:t>
            </a:r>
          </a:p>
          <a:p>
            <a:pPr marL="285750" indent="-285750">
              <a:buFont typeface="Arial" panose="020B0604020202020204" pitchFamily="34" charset="0"/>
              <a:buChar char="•"/>
            </a:pPr>
            <a:r>
              <a:rPr lang="en-US" dirty="0"/>
              <a:t>For each region, the </a:t>
            </a:r>
            <a:r>
              <a:rPr lang="en-US" dirty="0" err="1"/>
              <a:t>virt</a:t>
            </a:r>
            <a:r>
              <a:rPr lang="en-US" dirty="0"/>
              <a:t>. user can place up to </a:t>
            </a:r>
            <a:r>
              <a:rPr lang="en-US" i="1" dirty="0" err="1"/>
              <a:t>max_clicks</a:t>
            </a:r>
            <a:endParaRPr lang="en-US" i="1" dirty="0"/>
          </a:p>
          <a:p>
            <a:pPr marL="285750" indent="-285750">
              <a:buFont typeface="Arial" panose="020B0604020202020204" pitchFamily="34" charset="0"/>
              <a:buChar char="•"/>
            </a:pPr>
            <a:r>
              <a:rPr lang="en-US" dirty="0"/>
              <a:t>Pick the center(centroid) of each region as click location</a:t>
            </a:r>
            <a:endParaRPr lang="en-US" i="1" dirty="0"/>
          </a:p>
          <a:p>
            <a:endParaRPr lang="en-IN" b="1" dirty="0"/>
          </a:p>
          <a:p>
            <a:r>
              <a:rPr lang="en-IN" b="1" dirty="0"/>
              <a:t>PSEUDO ALGO FOR PLACING CLICKS:</a:t>
            </a:r>
          </a:p>
          <a:p>
            <a:pPr marL="342900" indent="-342900">
              <a:buAutoNum type="arabicPeriod"/>
            </a:pPr>
            <a:r>
              <a:rPr lang="en-IN" dirty="0"/>
              <a:t>Set click probability p = 1 </a:t>
            </a:r>
          </a:p>
          <a:p>
            <a:pPr marL="342900" indent="-342900">
              <a:buAutoNum type="arabicPeriod"/>
            </a:pPr>
            <a:r>
              <a:rPr lang="en-IN" dirty="0"/>
              <a:t>If p = 1: - Place initial click in each component </a:t>
            </a:r>
          </a:p>
          <a:p>
            <a:pPr marL="342900" indent="-342900">
              <a:buAutoNum type="arabicPeriod"/>
            </a:pPr>
            <a:r>
              <a:rPr lang="en-IN" dirty="0"/>
              <a:t>Else: - Place correction click in largest error region (per class) with probability p </a:t>
            </a:r>
          </a:p>
          <a:p>
            <a:pPr lvl="1"/>
            <a:r>
              <a:rPr lang="en-IN" i="1" dirty="0"/>
              <a:t>“No click if random no generated is greater than p”</a:t>
            </a:r>
          </a:p>
          <a:p>
            <a:pPr marL="342900" indent="-342900">
              <a:buAutoNum type="arabicPeriod"/>
            </a:pPr>
            <a:r>
              <a:rPr lang="en-IN" dirty="0"/>
              <a:t>Update p ← p - 1/t </a:t>
            </a:r>
          </a:p>
          <a:p>
            <a:pPr marL="342900" indent="-342900">
              <a:buAutoNum type="arabicPeriod"/>
            </a:pPr>
            <a:r>
              <a:rPr lang="en-IN" dirty="0"/>
              <a:t>Skip a random class </a:t>
            </a:r>
          </a:p>
          <a:p>
            <a:pPr marL="342900" indent="-342900">
              <a:buAutoNum type="arabicPeriod"/>
            </a:pPr>
            <a:r>
              <a:rPr lang="en-IN" dirty="0"/>
              <a:t>Drop 80% of the simulated clicks </a:t>
            </a:r>
          </a:p>
          <a:p>
            <a:pPr marL="342900" indent="-342900">
              <a:buAutoNum type="arabicPeriod"/>
            </a:pPr>
            <a:r>
              <a:rPr lang="en-IN" dirty="0"/>
              <a:t>Create interaction mask M from clicks </a:t>
            </a:r>
          </a:p>
          <a:p>
            <a:pPr marL="342900" indent="-342900">
              <a:buAutoNum type="arabicPeriod"/>
            </a:pPr>
            <a:r>
              <a:rPr lang="en-IN" dirty="0"/>
              <a:t>Output: updated p and mask M </a:t>
            </a:r>
          </a:p>
          <a:p>
            <a:r>
              <a:rPr lang="en-IN" b="1" dirty="0"/>
              <a:t>THESE CLICK MAPS along with initial predictions GO TO SIM</a:t>
            </a:r>
          </a:p>
        </p:txBody>
      </p:sp>
    </p:spTree>
    <p:extLst>
      <p:ext uri="{BB962C8B-B14F-4D97-AF65-F5344CB8AC3E}">
        <p14:creationId xmlns:p14="http://schemas.microsoft.com/office/powerpoint/2010/main" val="518639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fade">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xEl>
                                              <p:pRg st="4" end="4"/>
                                            </p:txEl>
                                          </p:spTgt>
                                        </p:tgtEl>
                                        <p:attrNameLst>
                                          <p:attrName>style.visibility</p:attrName>
                                        </p:attrNameLst>
                                      </p:cBhvr>
                                      <p:to>
                                        <p:strVal val="visible"/>
                                      </p:to>
                                    </p:set>
                                    <p:animEffect transition="in" filter="fade">
                                      <p:cBhvr>
                                        <p:cTn id="22" dur="500"/>
                                        <p:tgtEl>
                                          <p:spTgt spid="25">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xEl>
                                              <p:pRg st="6" end="6"/>
                                            </p:txEl>
                                          </p:spTgt>
                                        </p:tgtEl>
                                        <p:attrNameLst>
                                          <p:attrName>style.visibility</p:attrName>
                                        </p:attrNameLst>
                                      </p:cBhvr>
                                      <p:to>
                                        <p:strVal val="visible"/>
                                      </p:to>
                                    </p:set>
                                    <p:animEffect transition="in" filter="fade">
                                      <p:cBhvr>
                                        <p:cTn id="28" dur="500"/>
                                        <p:tgtEl>
                                          <p:spTgt spid="25">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xEl>
                                              <p:pRg st="7" end="7"/>
                                            </p:txEl>
                                          </p:spTgt>
                                        </p:tgtEl>
                                        <p:attrNameLst>
                                          <p:attrName>style.visibility</p:attrName>
                                        </p:attrNameLst>
                                      </p:cBhvr>
                                      <p:to>
                                        <p:strVal val="visible"/>
                                      </p:to>
                                    </p:set>
                                    <p:animEffect transition="in" filter="fade">
                                      <p:cBhvr>
                                        <p:cTn id="31" dur="500"/>
                                        <p:tgtEl>
                                          <p:spTgt spid="25">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xEl>
                                              <p:pRg st="8" end="8"/>
                                            </p:txEl>
                                          </p:spTgt>
                                        </p:tgtEl>
                                        <p:attrNameLst>
                                          <p:attrName>style.visibility</p:attrName>
                                        </p:attrNameLst>
                                      </p:cBhvr>
                                      <p:to>
                                        <p:strVal val="visible"/>
                                      </p:to>
                                    </p:set>
                                    <p:animEffect transition="in" filter="fade">
                                      <p:cBhvr>
                                        <p:cTn id="34" dur="500"/>
                                        <p:tgtEl>
                                          <p:spTgt spid="25">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9" end="9"/>
                                            </p:txEl>
                                          </p:spTgt>
                                        </p:tgtEl>
                                        <p:attrNameLst>
                                          <p:attrName>style.visibility</p:attrName>
                                        </p:attrNameLst>
                                      </p:cBhvr>
                                      <p:to>
                                        <p:strVal val="visible"/>
                                      </p:to>
                                    </p:set>
                                    <p:animEffect transition="in" filter="fade">
                                      <p:cBhvr>
                                        <p:cTn id="37" dur="500"/>
                                        <p:tgtEl>
                                          <p:spTgt spid="25">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xEl>
                                              <p:pRg st="10" end="10"/>
                                            </p:txEl>
                                          </p:spTgt>
                                        </p:tgtEl>
                                        <p:attrNameLst>
                                          <p:attrName>style.visibility</p:attrName>
                                        </p:attrNameLst>
                                      </p:cBhvr>
                                      <p:to>
                                        <p:strVal val="visible"/>
                                      </p:to>
                                    </p:set>
                                    <p:animEffect transition="in" filter="fade">
                                      <p:cBhvr>
                                        <p:cTn id="40" dur="500"/>
                                        <p:tgtEl>
                                          <p:spTgt spid="25">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xEl>
                                              <p:pRg st="11" end="11"/>
                                            </p:txEl>
                                          </p:spTgt>
                                        </p:tgtEl>
                                        <p:attrNameLst>
                                          <p:attrName>style.visibility</p:attrName>
                                        </p:attrNameLst>
                                      </p:cBhvr>
                                      <p:to>
                                        <p:strVal val="visible"/>
                                      </p:to>
                                    </p:set>
                                    <p:animEffect transition="in" filter="fade">
                                      <p:cBhvr>
                                        <p:cTn id="43" dur="500"/>
                                        <p:tgtEl>
                                          <p:spTgt spid="25">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25">
                                            <p:txEl>
                                              <p:pRg st="12" end="12"/>
                                            </p:txEl>
                                          </p:spTgt>
                                        </p:tgtEl>
                                        <p:attrNameLst>
                                          <p:attrName>style.visibility</p:attrName>
                                        </p:attrNameLst>
                                      </p:cBhvr>
                                      <p:to>
                                        <p:strVal val="visible"/>
                                      </p:to>
                                    </p:set>
                                    <p:animEffect transition="in" filter="fade">
                                      <p:cBhvr>
                                        <p:cTn id="46" dur="500"/>
                                        <p:tgtEl>
                                          <p:spTgt spid="25">
                                            <p:txEl>
                                              <p:pRg st="12" end="1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xEl>
                                              <p:pRg st="13" end="13"/>
                                            </p:txEl>
                                          </p:spTgt>
                                        </p:tgtEl>
                                        <p:attrNameLst>
                                          <p:attrName>style.visibility</p:attrName>
                                        </p:attrNameLst>
                                      </p:cBhvr>
                                      <p:to>
                                        <p:strVal val="visible"/>
                                      </p:to>
                                    </p:set>
                                    <p:animEffect transition="in" filter="fade">
                                      <p:cBhvr>
                                        <p:cTn id="49" dur="500"/>
                                        <p:tgtEl>
                                          <p:spTgt spid="25">
                                            <p:txEl>
                                              <p:pRg st="13" end="1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5">
                                            <p:txEl>
                                              <p:charRg st="608" end="666"/>
                                            </p:txEl>
                                          </p:spTgt>
                                        </p:tgtEl>
                                        <p:attrNameLst>
                                          <p:attrName>style.visibility</p:attrName>
                                        </p:attrNameLst>
                                      </p:cBhvr>
                                      <p:to>
                                        <p:strVal val="visible"/>
                                      </p:to>
                                    </p:set>
                                    <p:animEffect transition="in" filter="fade">
                                      <p:cBhvr>
                                        <p:cTn id="54" dur="500"/>
                                        <p:tgtEl>
                                          <p:spTgt spid="25">
                                            <p:txEl>
                                              <p:charRg st="608" end="66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
                                            <p:txEl>
                                              <p:pRg st="0" end="0"/>
                                            </p:txEl>
                                          </p:spTgt>
                                        </p:tgtEl>
                                        <p:attrNameLst>
                                          <p:attrName>style.visibility</p:attrName>
                                        </p:attrNameLst>
                                      </p:cBhvr>
                                      <p:to>
                                        <p:strVal val="visible"/>
                                      </p:to>
                                    </p:set>
                                    <p:animEffect transition="in" filter="fade">
                                      <p:cBhvr>
                                        <p:cTn id="64" dur="500"/>
                                        <p:tgtEl>
                                          <p:spTgt spid="4">
                                            <p:txEl>
                                              <p:pRg st="0" end="0"/>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animEffect transition="in" filter="fade">
                                      <p:cBhvr>
                                        <p:cTn id="67" dur="500"/>
                                        <p:tgtEl>
                                          <p:spTgt spid="4">
                                            <p:txEl>
                                              <p:pRg st="1" end="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4">
                                            <p:txEl>
                                              <p:pRg st="2" end="2"/>
                                            </p:txEl>
                                          </p:spTgt>
                                        </p:tgtEl>
                                        <p:attrNameLst>
                                          <p:attrName>style.visibility</p:attrName>
                                        </p:attrNameLst>
                                      </p:cBhvr>
                                      <p:to>
                                        <p:strVal val="visible"/>
                                      </p:to>
                                    </p:set>
                                    <p:animEffect transition="in" filter="fade">
                                      <p:cBhvr>
                                        <p:cTn id="70" dur="500"/>
                                        <p:tgtEl>
                                          <p:spTgt spid="4">
                                            <p:txEl>
                                              <p:pRg st="2" end="2"/>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4">
                                            <p:txEl>
                                              <p:pRg st="3" end="3"/>
                                            </p:txEl>
                                          </p:spTgt>
                                        </p:tgtEl>
                                        <p:attrNameLst>
                                          <p:attrName>style.visibility</p:attrName>
                                        </p:attrNameLst>
                                      </p:cBhvr>
                                      <p:to>
                                        <p:strVal val="visible"/>
                                      </p:to>
                                    </p:set>
                                    <p:animEffect transition="in" filter="fade">
                                      <p:cBhvr>
                                        <p:cTn id="73" dur="500"/>
                                        <p:tgtEl>
                                          <p:spTgt spid="4">
                                            <p:txEl>
                                              <p:pRg st="3" end="3"/>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4">
                                            <p:txEl>
                                              <p:pRg st="4" end="4"/>
                                            </p:txEl>
                                          </p:spTgt>
                                        </p:tgtEl>
                                        <p:attrNameLst>
                                          <p:attrName>style.visibility</p:attrName>
                                        </p:attrNameLst>
                                      </p:cBhvr>
                                      <p:to>
                                        <p:strVal val="visible"/>
                                      </p:to>
                                    </p:set>
                                    <p:animEffect transition="in" filter="fade">
                                      <p:cBhvr>
                                        <p:cTn id="7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A22AD90E-6D97-CEBD-323D-B56B32369A1A}"/>
              </a:ext>
            </a:extLst>
          </p:cNvPr>
          <p:cNvSpPr>
            <a:spLocks noGrp="1"/>
          </p:cNvSpPr>
          <p:nvPr>
            <p:ph type="title"/>
          </p:nvPr>
        </p:nvSpPr>
        <p:spPr>
          <a:xfrm>
            <a:off x="363793" y="0"/>
            <a:ext cx="11464413" cy="914400"/>
          </a:xfrm>
        </p:spPr>
        <p:txBody>
          <a:bodyPr/>
          <a:lstStyle/>
          <a:p>
            <a:r>
              <a:rPr lang="en-IN" dirty="0"/>
              <a:t>U-Net–style encoder-decoder: </a:t>
            </a:r>
            <a:r>
              <a:rPr lang="en-IN" i="1" dirty="0"/>
              <a:t>Complete Model Pipeline</a:t>
            </a:r>
            <a:endParaRPr lang="en-US" i="1" dirty="0"/>
          </a:p>
        </p:txBody>
      </p:sp>
      <p:sp>
        <p:nvSpPr>
          <p:cNvPr id="3" name="Content Placeholder 2">
            <a:extLst>
              <a:ext uri="{FF2B5EF4-FFF2-40B4-BE49-F238E27FC236}">
                <a16:creationId xmlns:a16="http://schemas.microsoft.com/office/drawing/2014/main" id="{71A26218-7912-79E8-98FB-247C2643BBF3}"/>
              </a:ext>
            </a:extLst>
          </p:cNvPr>
          <p:cNvSpPr>
            <a:spLocks noGrp="1"/>
          </p:cNvSpPr>
          <p:nvPr>
            <p:ph sz="quarter" idx="12"/>
          </p:nvPr>
        </p:nvSpPr>
        <p:spPr>
          <a:xfrm>
            <a:off x="163510" y="1201452"/>
            <a:ext cx="11864980" cy="5435321"/>
          </a:xfrm>
        </p:spPr>
        <p:txBody>
          <a:bodyPr>
            <a:noAutofit/>
          </a:bodyPr>
          <a:lstStyle/>
          <a:p>
            <a:pPr marL="457200" indent="-457200">
              <a:buFont typeface="+mj-lt"/>
              <a:buAutoNum type="arabicPeriod"/>
            </a:pPr>
            <a:r>
              <a:rPr lang="en-IN" sz="2400" b="1" u="sng" dirty="0"/>
              <a:t>Encoder (Feature Extractor) – It receives only CT Scan + SIM stack.</a:t>
            </a:r>
          </a:p>
          <a:p>
            <a:pPr lvl="2"/>
            <a:r>
              <a:rPr lang="en-US" dirty="0"/>
              <a:t>The encoder is a </a:t>
            </a:r>
            <a:r>
              <a:rPr lang="en-US" b="1" dirty="0"/>
              <a:t>ResNet34</a:t>
            </a:r>
            <a:r>
              <a:rPr lang="en-US" dirty="0"/>
              <a:t>, modified to handle the increased input channels.</a:t>
            </a:r>
          </a:p>
          <a:p>
            <a:pPr lvl="2"/>
            <a:r>
              <a:rPr lang="en-US" dirty="0"/>
              <a:t>Normally, ResNet34 expects 3-channel RGB input.</a:t>
            </a:r>
          </a:p>
          <a:p>
            <a:pPr lvl="2"/>
            <a:r>
              <a:rPr lang="en-US" dirty="0"/>
              <a:t>This model replaces the first convolution (conv1) to accept (1 + 2*D*N) channels instead.</a:t>
            </a:r>
          </a:p>
          <a:p>
            <a:pPr lvl="2"/>
            <a:r>
              <a:rPr lang="en-US" dirty="0"/>
              <a:t>So the Encoder treats these as just channels and not intelligently as SIM, although data is of SIM.</a:t>
            </a:r>
          </a:p>
          <a:p>
            <a:pPr lvl="2"/>
            <a:r>
              <a:rPr lang="en-US" dirty="0"/>
              <a:t>Conv</a:t>
            </a:r>
            <a:r>
              <a:rPr lang="en-US" dirty="0">
                <a:sym typeface="Wingdings" panose="05000000000000000000" pitchFamily="2" charset="2"/>
              </a:rPr>
              <a:t> Pool </a:t>
            </a:r>
            <a:r>
              <a:rPr lang="en-US" dirty="0" err="1">
                <a:sym typeface="Wingdings" panose="05000000000000000000" pitchFamily="2" charset="2"/>
              </a:rPr>
              <a:t>Resnet_layer</a:t>
            </a:r>
            <a:r>
              <a:rPr lang="en-US" dirty="0">
                <a:sym typeface="Wingdings" panose="05000000000000000000" pitchFamily="2" charset="2"/>
              </a:rPr>
              <a:t> 1  Layer 2 Layer 3  Layer 4</a:t>
            </a:r>
          </a:p>
          <a:p>
            <a:pPr lvl="2"/>
            <a:r>
              <a:rPr lang="en-US" dirty="0">
                <a:sym typeface="Wingdings" panose="05000000000000000000" pitchFamily="2" charset="2"/>
              </a:rPr>
              <a:t>Feature maps from intermediate stages are saved as skip connections (used later in decoder)</a:t>
            </a:r>
          </a:p>
          <a:p>
            <a:pPr marL="457200" indent="-457200">
              <a:buFont typeface="+mj-lt"/>
              <a:buAutoNum type="arabicPeriod"/>
            </a:pPr>
            <a:r>
              <a:rPr lang="en-US" sz="2400" b="1" u="sng" dirty="0"/>
              <a:t>Decoder (SIM-Guided Reconstruction) – It </a:t>
            </a:r>
            <a:r>
              <a:rPr lang="en-US" sz="2400" b="1" u="sng" dirty="0" err="1"/>
              <a:t>upsamples</a:t>
            </a:r>
            <a:r>
              <a:rPr lang="en-US" sz="2400" b="1" u="sng" dirty="0"/>
              <a:t>, fuses skip connections, and injects SIM</a:t>
            </a:r>
          </a:p>
          <a:p>
            <a:pPr marL="571500" lvl="1" indent="-342900"/>
            <a:r>
              <a:rPr lang="en-US" dirty="0"/>
              <a:t>The decoder takes the deepest encoder feature and </a:t>
            </a:r>
            <a:r>
              <a:rPr lang="en-US" b="1" dirty="0" err="1"/>
              <a:t>upsamples</a:t>
            </a:r>
            <a:r>
              <a:rPr lang="en-US" dirty="0"/>
              <a:t> it stage-by-stage to recover spatial resolution.</a:t>
            </a:r>
          </a:p>
          <a:p>
            <a:pPr marL="571500" lvl="1" indent="-342900"/>
            <a:r>
              <a:rPr lang="en-US" dirty="0"/>
              <a:t>At each stage, the </a:t>
            </a:r>
            <a:r>
              <a:rPr lang="en-US" dirty="0" err="1"/>
              <a:t>upsampled</a:t>
            </a:r>
            <a:r>
              <a:rPr lang="en-US" dirty="0"/>
              <a:t> feature is </a:t>
            </a:r>
            <a:r>
              <a:rPr lang="en-US" b="1" dirty="0"/>
              <a:t>concatenated with the corresponding encoder skip feature</a:t>
            </a:r>
            <a:r>
              <a:rPr lang="en-US" dirty="0"/>
              <a:t>, restoring lost anatomical detail.</a:t>
            </a:r>
          </a:p>
          <a:p>
            <a:pPr marL="571500" lvl="1" indent="-342900"/>
            <a:r>
              <a:rPr lang="en-US" dirty="0"/>
              <a:t>The SIM memory (split into D states of shape (B, 2N, H, W)) is </a:t>
            </a:r>
            <a:r>
              <a:rPr lang="en-US" b="1" dirty="0"/>
              <a:t>resized</a:t>
            </a:r>
            <a:r>
              <a:rPr lang="en-US" dirty="0"/>
              <a:t> to match the current decoder stage resolution.</a:t>
            </a:r>
          </a:p>
          <a:p>
            <a:pPr marL="571500" lvl="1" indent="-342900"/>
            <a:endParaRPr lang="en-US" dirty="0"/>
          </a:p>
          <a:p>
            <a:pPr marL="685800" lvl="1" indent="-457200">
              <a:buFont typeface="+mj-lt"/>
              <a:buAutoNum type="arabicPeriod"/>
            </a:pPr>
            <a:endParaRPr lang="en-US" dirty="0"/>
          </a:p>
          <a:p>
            <a:pPr marL="685800" lvl="1" indent="-457200">
              <a:buFont typeface="+mj-lt"/>
              <a:buAutoNum type="arabicPeriod"/>
            </a:pPr>
            <a:endParaRPr lang="en-IN" b="1" dirty="0"/>
          </a:p>
          <a:p>
            <a:pPr marL="457200" indent="-457200">
              <a:buFont typeface="+mj-lt"/>
              <a:buAutoNum type="arabicPeriod"/>
            </a:pPr>
            <a:endParaRPr lang="en-IN" dirty="0"/>
          </a:p>
        </p:txBody>
      </p:sp>
    </p:spTree>
    <p:extLst>
      <p:ext uri="{BB962C8B-B14F-4D97-AF65-F5344CB8AC3E}">
        <p14:creationId xmlns:p14="http://schemas.microsoft.com/office/powerpoint/2010/main" val="85990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6D0E77-1605-5368-20F6-51F2D1298A0E}"/>
            </a:ext>
          </a:extLst>
        </p:cNvPr>
        <p:cNvGrpSpPr/>
        <p:nvPr/>
      </p:nvGrpSpPr>
      <p:grpSpPr>
        <a:xfrm>
          <a:off x="0" y="0"/>
          <a:ext cx="0" cy="0"/>
          <a:chOff x="0" y="0"/>
          <a:chExt cx="0" cy="0"/>
        </a:xfrm>
      </p:grpSpPr>
      <p:sp>
        <p:nvSpPr>
          <p:cNvPr id="10" name="Title 10">
            <a:extLst>
              <a:ext uri="{FF2B5EF4-FFF2-40B4-BE49-F238E27FC236}">
                <a16:creationId xmlns:a16="http://schemas.microsoft.com/office/drawing/2014/main" id="{6B1C2A13-62F8-7AF7-8BC2-4F78A89FDDA4}"/>
              </a:ext>
            </a:extLst>
          </p:cNvPr>
          <p:cNvSpPr>
            <a:spLocks noGrp="1"/>
          </p:cNvSpPr>
          <p:nvPr>
            <p:ph type="title"/>
          </p:nvPr>
        </p:nvSpPr>
        <p:spPr>
          <a:xfrm>
            <a:off x="275303" y="260406"/>
            <a:ext cx="10743610" cy="639196"/>
          </a:xfrm>
        </p:spPr>
        <p:txBody>
          <a:bodyPr/>
          <a:lstStyle/>
          <a:p>
            <a:r>
              <a:rPr lang="en-IN" dirty="0"/>
              <a:t>U-Net–style encoder-decoder: </a:t>
            </a:r>
            <a:r>
              <a:rPr lang="en-IN" i="1" dirty="0"/>
              <a:t>Complete Model Pipeline</a:t>
            </a:r>
            <a:endParaRPr lang="en-US" i="1" dirty="0"/>
          </a:p>
        </p:txBody>
      </p:sp>
      <p:sp>
        <p:nvSpPr>
          <p:cNvPr id="3" name="Content Placeholder 2">
            <a:extLst>
              <a:ext uri="{FF2B5EF4-FFF2-40B4-BE49-F238E27FC236}">
                <a16:creationId xmlns:a16="http://schemas.microsoft.com/office/drawing/2014/main" id="{BB284368-59E5-DF75-EA7C-1D20E04C05F7}"/>
              </a:ext>
            </a:extLst>
          </p:cNvPr>
          <p:cNvSpPr>
            <a:spLocks noGrp="1"/>
          </p:cNvSpPr>
          <p:nvPr>
            <p:ph sz="quarter" idx="12"/>
          </p:nvPr>
        </p:nvSpPr>
        <p:spPr>
          <a:xfrm>
            <a:off x="602324" y="1093298"/>
            <a:ext cx="6329418" cy="5395992"/>
          </a:xfrm>
        </p:spPr>
        <p:txBody>
          <a:bodyPr>
            <a:noAutofit/>
          </a:bodyPr>
          <a:lstStyle/>
          <a:p>
            <a:r>
              <a:rPr lang="en-US" b="1" i="1" dirty="0"/>
              <a:t>Decoder </a:t>
            </a:r>
            <a:r>
              <a:rPr lang="en-US" b="1" i="1" dirty="0" err="1"/>
              <a:t>contd</a:t>
            </a:r>
            <a:r>
              <a:rPr lang="en-US" b="1" i="1" dirty="0"/>
              <a:t>…..</a:t>
            </a:r>
          </a:p>
          <a:p>
            <a:pPr marL="342900" indent="-342900">
              <a:buFont typeface="Courier New" panose="02070309020205020404" pitchFamily="49" charset="0"/>
              <a:buChar char="o"/>
            </a:pPr>
            <a:r>
              <a:rPr lang="en-US" dirty="0"/>
              <a:t>Each resized SIM state is passed through a </a:t>
            </a:r>
            <a:r>
              <a:rPr lang="en-US" b="1" dirty="0"/>
              <a:t>1×1 projection</a:t>
            </a:r>
            <a:r>
              <a:rPr lang="en-US" dirty="0"/>
              <a:t> so its channel dimensions match the decoder feature map.</a:t>
            </a:r>
          </a:p>
          <a:p>
            <a:pPr marL="342900" indent="-342900">
              <a:buFont typeface="Courier New" panose="02070309020205020404" pitchFamily="49" charset="0"/>
              <a:buChar char="o"/>
            </a:pPr>
            <a:r>
              <a:rPr lang="en-US" dirty="0"/>
              <a:t>The projected SIM is </a:t>
            </a:r>
            <a:r>
              <a:rPr lang="en-US" b="1" dirty="0"/>
              <a:t>added (residual fusion)</a:t>
            </a:r>
            <a:r>
              <a:rPr lang="en-US" dirty="0"/>
              <a:t> to the visual feature map, injecting the user's interaction cues into the decoding process.</a:t>
            </a:r>
          </a:p>
          <a:p>
            <a:pPr marL="342900" indent="-342900">
              <a:buFont typeface="Courier New" panose="02070309020205020404" pitchFamily="49" charset="0"/>
              <a:buChar char="o"/>
            </a:pPr>
            <a:r>
              <a:rPr lang="en-US" dirty="0"/>
              <a:t>A </a:t>
            </a:r>
            <a:r>
              <a:rPr lang="en-US" b="1" dirty="0" err="1"/>
              <a:t>ConvLSTM</a:t>
            </a:r>
            <a:r>
              <a:rPr lang="en-US" b="1" dirty="0"/>
              <a:t> block</a:t>
            </a:r>
            <a:r>
              <a:rPr lang="en-US" dirty="0"/>
              <a:t> iterates over all D SIM states, enabling sequential refinement and correction of segmentation errors.</a:t>
            </a:r>
          </a:p>
          <a:p>
            <a:pPr marL="342900" indent="-342900">
              <a:buFont typeface="Courier New" panose="02070309020205020404" pitchFamily="49" charset="0"/>
              <a:buChar char="o"/>
            </a:pPr>
            <a:r>
              <a:rPr lang="en-US" dirty="0"/>
              <a:t>After the final decoder stage, the output is </a:t>
            </a:r>
            <a:r>
              <a:rPr lang="en-US" dirty="0" err="1"/>
              <a:t>upsampled</a:t>
            </a:r>
            <a:r>
              <a:rPr lang="en-US" dirty="0"/>
              <a:t> to full resolution and passed through a </a:t>
            </a:r>
            <a:r>
              <a:rPr lang="en-US" b="1" dirty="0"/>
              <a:t>1×1 prediction head</a:t>
            </a:r>
            <a:r>
              <a:rPr lang="en-US" dirty="0"/>
              <a:t> to produce the final segmentation map.</a:t>
            </a:r>
          </a:p>
          <a:p>
            <a:endParaRPr lang="en-US" dirty="0"/>
          </a:p>
          <a:p>
            <a:pPr marL="457200" lvl="2" indent="0">
              <a:buNone/>
            </a:pPr>
            <a:r>
              <a:rPr lang="en-IN" b="1" dirty="0"/>
              <a:t>	 </a:t>
            </a:r>
          </a:p>
          <a:p>
            <a:endParaRPr lang="en-US" dirty="0"/>
          </a:p>
        </p:txBody>
      </p:sp>
      <p:pic>
        <p:nvPicPr>
          <p:cNvPr id="8" name="Content Placeholder 7">
            <a:extLst>
              <a:ext uri="{FF2B5EF4-FFF2-40B4-BE49-F238E27FC236}">
                <a16:creationId xmlns:a16="http://schemas.microsoft.com/office/drawing/2014/main" id="{D2E220AE-459B-106D-8FAB-ABE22BFC602F}"/>
              </a:ext>
            </a:extLst>
          </p:cNvPr>
          <p:cNvPicPr>
            <a:picLocks noChangeAspect="1"/>
          </p:cNvPicPr>
          <p:nvPr/>
        </p:nvPicPr>
        <p:blipFill>
          <a:blip r:embed="rId3"/>
          <a:stretch>
            <a:fillRect/>
          </a:stretch>
        </p:blipFill>
        <p:spPr>
          <a:xfrm>
            <a:off x="6829078" y="2222090"/>
            <a:ext cx="5176109" cy="2957053"/>
          </a:xfrm>
          <a:prstGeom prst="rect">
            <a:avLst/>
          </a:prstGeom>
        </p:spPr>
      </p:pic>
      <p:sp>
        <p:nvSpPr>
          <p:cNvPr id="5" name="Title 10">
            <a:extLst>
              <a:ext uri="{FF2B5EF4-FFF2-40B4-BE49-F238E27FC236}">
                <a16:creationId xmlns:a16="http://schemas.microsoft.com/office/drawing/2014/main" id="{CE8F756D-95DE-E641-9157-529142D83939}"/>
              </a:ext>
            </a:extLst>
          </p:cNvPr>
          <p:cNvSpPr txBox="1">
            <a:spLocks/>
          </p:cNvSpPr>
          <p:nvPr/>
        </p:nvSpPr>
        <p:spPr>
          <a:xfrm>
            <a:off x="176785" y="6400800"/>
            <a:ext cx="2743396" cy="362722"/>
          </a:xfrm>
          <a:prstGeom prst="rect">
            <a:avLst/>
          </a:prstGeom>
        </p:spPr>
        <p:txBody>
          <a:bodyPr vert="horz" lIns="91440" tIns="45720" rIns="91440" bIns="45720" rtlCol="0" anchor="b" anchorCtr="0">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IN" sz="1400" dirty="0">
                <a:solidFill>
                  <a:schemeClr val="accent5">
                    <a:lumMod val="60000"/>
                    <a:lumOff val="40000"/>
                  </a:schemeClr>
                </a:solidFill>
              </a:rPr>
              <a:t>Image source:  AI Generated</a:t>
            </a:r>
            <a:endParaRPr lang="en-US" sz="1400" i="1" dirty="0">
              <a:solidFill>
                <a:schemeClr val="accent5">
                  <a:lumMod val="60000"/>
                  <a:lumOff val="40000"/>
                </a:schemeClr>
              </a:solidFill>
            </a:endParaRPr>
          </a:p>
        </p:txBody>
      </p:sp>
    </p:spTree>
    <p:extLst>
      <p:ext uri="{BB962C8B-B14F-4D97-AF65-F5344CB8AC3E}">
        <p14:creationId xmlns:p14="http://schemas.microsoft.com/office/powerpoint/2010/main" val="1971014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6D14C3-204D-80EB-F748-3408C4F6E1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8EC697-BD64-3E2D-464D-E198CF96D682}"/>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pic>
        <p:nvPicPr>
          <p:cNvPr id="3" name="Picture 4">
            <a:extLst>
              <a:ext uri="{FF2B5EF4-FFF2-40B4-BE49-F238E27FC236}">
                <a16:creationId xmlns:a16="http://schemas.microsoft.com/office/drawing/2014/main" id="{A25A7F14-0DC1-F628-94A4-28A4584A0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753" y="1189704"/>
            <a:ext cx="11600494" cy="452540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0">
            <a:extLst>
              <a:ext uri="{FF2B5EF4-FFF2-40B4-BE49-F238E27FC236}">
                <a16:creationId xmlns:a16="http://schemas.microsoft.com/office/drawing/2014/main" id="{77B59F5F-34B0-95A6-8F0B-2F5868C71675}"/>
              </a:ext>
            </a:extLst>
          </p:cNvPr>
          <p:cNvSpPr>
            <a:spLocks noGrp="1"/>
          </p:cNvSpPr>
          <p:nvPr>
            <p:ph type="title"/>
          </p:nvPr>
        </p:nvSpPr>
        <p:spPr>
          <a:xfrm>
            <a:off x="973394" y="275304"/>
            <a:ext cx="6410632" cy="914400"/>
          </a:xfrm>
        </p:spPr>
        <p:txBody>
          <a:bodyPr/>
          <a:lstStyle/>
          <a:p>
            <a:r>
              <a:rPr lang="en-IN" sz="3200" dirty="0"/>
              <a:t>Complete Model Pipeline</a:t>
            </a:r>
            <a:endParaRPr lang="en-US" i="1" dirty="0"/>
          </a:p>
        </p:txBody>
      </p:sp>
      <p:sp>
        <p:nvSpPr>
          <p:cNvPr id="9" name="Title 10">
            <a:extLst>
              <a:ext uri="{FF2B5EF4-FFF2-40B4-BE49-F238E27FC236}">
                <a16:creationId xmlns:a16="http://schemas.microsoft.com/office/drawing/2014/main" id="{71246C9C-571A-8877-0BAF-6420B222C39E}"/>
              </a:ext>
            </a:extLst>
          </p:cNvPr>
          <p:cNvSpPr txBox="1">
            <a:spLocks/>
          </p:cNvSpPr>
          <p:nvPr/>
        </p:nvSpPr>
        <p:spPr>
          <a:xfrm>
            <a:off x="176784" y="6582696"/>
            <a:ext cx="7944661" cy="180826"/>
          </a:xfrm>
          <a:prstGeom prst="rect">
            <a:avLst/>
          </a:prstGeom>
        </p:spPr>
        <p:txBody>
          <a:bodyPr vert="horz" lIns="91440" tIns="45720" rIns="91440" bIns="45720" rtlCol="0" anchor="b" anchorCtr="0">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IN" sz="1400" dirty="0">
                <a:solidFill>
                  <a:schemeClr val="accent5">
                    <a:lumMod val="60000"/>
                    <a:lumOff val="40000"/>
                  </a:schemeClr>
                </a:solidFill>
              </a:rPr>
              <a:t>Image source:  https://www.sciencedirect.com/science/article/pii/S0169260724000348</a:t>
            </a:r>
            <a:endParaRPr lang="en-US" sz="1400" i="1" dirty="0">
              <a:solidFill>
                <a:schemeClr val="accent5">
                  <a:lumMod val="60000"/>
                  <a:lumOff val="40000"/>
                </a:schemeClr>
              </a:solidFill>
            </a:endParaRPr>
          </a:p>
        </p:txBody>
      </p:sp>
    </p:spTree>
    <p:extLst>
      <p:ext uri="{BB962C8B-B14F-4D97-AF65-F5344CB8AC3E}">
        <p14:creationId xmlns:p14="http://schemas.microsoft.com/office/powerpoint/2010/main" val="97115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1B693-8258-CF70-D785-E0E836E0AE4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0B38736-C9DF-319C-7543-34290DCA522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
        <p:nvSpPr>
          <p:cNvPr id="11" name="Title 10">
            <a:extLst>
              <a:ext uri="{FF2B5EF4-FFF2-40B4-BE49-F238E27FC236}">
                <a16:creationId xmlns:a16="http://schemas.microsoft.com/office/drawing/2014/main" id="{C6521CD7-FC3F-CF94-AA8D-FBD7869BE68A}"/>
              </a:ext>
            </a:extLst>
          </p:cNvPr>
          <p:cNvSpPr>
            <a:spLocks noGrp="1"/>
          </p:cNvSpPr>
          <p:nvPr>
            <p:ph type="title"/>
          </p:nvPr>
        </p:nvSpPr>
        <p:spPr>
          <a:xfrm>
            <a:off x="294967" y="658762"/>
            <a:ext cx="10743610" cy="914400"/>
          </a:xfrm>
        </p:spPr>
        <p:txBody>
          <a:bodyPr/>
          <a:lstStyle/>
          <a:p>
            <a:r>
              <a:rPr lang="en-IN" sz="3600" dirty="0"/>
              <a:t>Dataset</a:t>
            </a:r>
            <a:endParaRPr lang="en-US" sz="3600" i="1" dirty="0"/>
          </a:p>
        </p:txBody>
      </p:sp>
      <p:pic>
        <p:nvPicPr>
          <p:cNvPr id="3" name="Picture 2">
            <a:extLst>
              <a:ext uri="{FF2B5EF4-FFF2-40B4-BE49-F238E27FC236}">
                <a16:creationId xmlns:a16="http://schemas.microsoft.com/office/drawing/2014/main" id="{7A110F90-3514-583C-AB99-3AB143FE4750}"/>
              </a:ext>
            </a:extLst>
          </p:cNvPr>
          <p:cNvPicPr>
            <a:picLocks noChangeAspect="1"/>
          </p:cNvPicPr>
          <p:nvPr/>
        </p:nvPicPr>
        <p:blipFill>
          <a:blip r:embed="rId2"/>
          <a:stretch>
            <a:fillRect/>
          </a:stretch>
        </p:blipFill>
        <p:spPr>
          <a:xfrm>
            <a:off x="6613013" y="2170470"/>
            <a:ext cx="5510161" cy="3306097"/>
          </a:xfrm>
          <a:prstGeom prst="rect">
            <a:avLst/>
          </a:prstGeom>
        </p:spPr>
      </p:pic>
      <p:sp>
        <p:nvSpPr>
          <p:cNvPr id="4" name="TextBox 3">
            <a:extLst>
              <a:ext uri="{FF2B5EF4-FFF2-40B4-BE49-F238E27FC236}">
                <a16:creationId xmlns:a16="http://schemas.microsoft.com/office/drawing/2014/main" id="{5120D202-0045-EEA6-9C77-C6C1251E1DC5}"/>
              </a:ext>
            </a:extLst>
          </p:cNvPr>
          <p:cNvSpPr txBox="1"/>
          <p:nvPr/>
        </p:nvSpPr>
        <p:spPr>
          <a:xfrm>
            <a:off x="68826" y="2151727"/>
            <a:ext cx="6459793" cy="2554545"/>
          </a:xfrm>
          <a:prstGeom prst="rect">
            <a:avLst/>
          </a:prstGeom>
          <a:noFill/>
        </p:spPr>
        <p:txBody>
          <a:bodyPr wrap="square">
            <a:spAutoFit/>
          </a:bodyPr>
          <a:lstStyle/>
          <a:p>
            <a:r>
              <a:rPr lang="en-US" sz="2000" dirty="0"/>
              <a:t>The dataset used was obtained from Tata Memorial Hospital, and all CT scans were manually annotated by expert clinicians.</a:t>
            </a:r>
            <a:br>
              <a:rPr lang="en-US" sz="2000" dirty="0"/>
            </a:br>
            <a:r>
              <a:rPr lang="en-US" sz="2000" dirty="0"/>
              <a:t>For training, we used CT scans from </a:t>
            </a:r>
            <a:r>
              <a:rPr lang="en-US" sz="2000" b="1" dirty="0"/>
              <a:t>45 patients</a:t>
            </a:r>
            <a:r>
              <a:rPr lang="en-US" sz="2000" dirty="0"/>
              <a:t>, where each scan contributed a </a:t>
            </a:r>
            <a:r>
              <a:rPr lang="en-US" sz="2000" b="1" dirty="0"/>
              <a:t>variable number of slices (typically between 50 and 300)</a:t>
            </a:r>
            <a:r>
              <a:rPr lang="en-US" sz="2000" dirty="0"/>
              <a:t>. Total slices were 8064(train) + 896 (</a:t>
            </a:r>
            <a:r>
              <a:rPr lang="en-US" sz="2000" dirty="0" err="1"/>
              <a:t>val</a:t>
            </a:r>
            <a:r>
              <a:rPr lang="en-US" sz="2000" dirty="0"/>
              <a:t>)</a:t>
            </a:r>
            <a:br>
              <a:rPr lang="en-US" sz="2000" dirty="0"/>
            </a:br>
            <a:r>
              <a:rPr lang="en-US" sz="2000" dirty="0"/>
              <a:t>For testing, CT scans from </a:t>
            </a:r>
            <a:r>
              <a:rPr lang="en-US" sz="2000" b="1" dirty="0"/>
              <a:t>15 patients</a:t>
            </a:r>
            <a:r>
              <a:rPr lang="en-US" sz="2000" dirty="0"/>
              <a:t> were used.</a:t>
            </a:r>
          </a:p>
          <a:p>
            <a:r>
              <a:rPr lang="en-US" sz="2000" dirty="0"/>
              <a:t>The background dominated the dataset and was penalized accordingly while computing loss</a:t>
            </a:r>
          </a:p>
        </p:txBody>
      </p:sp>
      <p:pic>
        <p:nvPicPr>
          <p:cNvPr id="6" name="Picture 5">
            <a:extLst>
              <a:ext uri="{FF2B5EF4-FFF2-40B4-BE49-F238E27FC236}">
                <a16:creationId xmlns:a16="http://schemas.microsoft.com/office/drawing/2014/main" id="{2B65045F-5E3C-5067-E5A9-FAE583EAB27F}"/>
              </a:ext>
            </a:extLst>
          </p:cNvPr>
          <p:cNvPicPr>
            <a:picLocks noChangeAspect="1"/>
          </p:cNvPicPr>
          <p:nvPr/>
        </p:nvPicPr>
        <p:blipFill>
          <a:blip r:embed="rId3"/>
          <a:srcRect l="7357" t="9401" r="54768" b="27111"/>
          <a:stretch>
            <a:fillRect/>
          </a:stretch>
        </p:blipFill>
        <p:spPr>
          <a:xfrm>
            <a:off x="210512" y="4884673"/>
            <a:ext cx="1332958" cy="1145457"/>
          </a:xfrm>
          <a:prstGeom prst="rect">
            <a:avLst/>
          </a:prstGeom>
        </p:spPr>
      </p:pic>
      <p:pic>
        <p:nvPicPr>
          <p:cNvPr id="8" name="Picture 7">
            <a:extLst>
              <a:ext uri="{FF2B5EF4-FFF2-40B4-BE49-F238E27FC236}">
                <a16:creationId xmlns:a16="http://schemas.microsoft.com/office/drawing/2014/main" id="{972680C4-3DA7-62BA-4C3B-6C80C4905A02}"/>
              </a:ext>
            </a:extLst>
          </p:cNvPr>
          <p:cNvPicPr>
            <a:picLocks noChangeAspect="1"/>
          </p:cNvPicPr>
          <p:nvPr/>
        </p:nvPicPr>
        <p:blipFill>
          <a:blip r:embed="rId4"/>
          <a:stretch>
            <a:fillRect/>
          </a:stretch>
        </p:blipFill>
        <p:spPr>
          <a:xfrm>
            <a:off x="1627864" y="4889347"/>
            <a:ext cx="1332958" cy="1145457"/>
          </a:xfrm>
          <a:prstGeom prst="rect">
            <a:avLst/>
          </a:prstGeom>
        </p:spPr>
      </p:pic>
      <p:pic>
        <p:nvPicPr>
          <p:cNvPr id="10" name="Picture 9">
            <a:extLst>
              <a:ext uri="{FF2B5EF4-FFF2-40B4-BE49-F238E27FC236}">
                <a16:creationId xmlns:a16="http://schemas.microsoft.com/office/drawing/2014/main" id="{56D7334E-2635-DD14-F229-1A3E94EF6906}"/>
              </a:ext>
            </a:extLst>
          </p:cNvPr>
          <p:cNvPicPr>
            <a:picLocks noChangeAspect="1"/>
          </p:cNvPicPr>
          <p:nvPr/>
        </p:nvPicPr>
        <p:blipFill>
          <a:blip r:embed="rId5"/>
          <a:stretch>
            <a:fillRect/>
          </a:stretch>
        </p:blipFill>
        <p:spPr>
          <a:xfrm>
            <a:off x="3045216" y="4889347"/>
            <a:ext cx="1332958" cy="1140783"/>
          </a:xfrm>
          <a:prstGeom prst="rect">
            <a:avLst/>
          </a:prstGeom>
        </p:spPr>
      </p:pic>
      <p:pic>
        <p:nvPicPr>
          <p:cNvPr id="13" name="Picture 12">
            <a:extLst>
              <a:ext uri="{FF2B5EF4-FFF2-40B4-BE49-F238E27FC236}">
                <a16:creationId xmlns:a16="http://schemas.microsoft.com/office/drawing/2014/main" id="{D0062043-512E-E4E0-2467-2FE10CFA022F}"/>
              </a:ext>
            </a:extLst>
          </p:cNvPr>
          <p:cNvPicPr>
            <a:picLocks noChangeAspect="1"/>
          </p:cNvPicPr>
          <p:nvPr/>
        </p:nvPicPr>
        <p:blipFill>
          <a:blip r:embed="rId6"/>
          <a:stretch>
            <a:fillRect/>
          </a:stretch>
        </p:blipFill>
        <p:spPr>
          <a:xfrm>
            <a:off x="4462569" y="4884673"/>
            <a:ext cx="1332958" cy="1145457"/>
          </a:xfrm>
          <a:prstGeom prst="rect">
            <a:avLst/>
          </a:prstGeom>
        </p:spPr>
      </p:pic>
      <p:sp>
        <p:nvSpPr>
          <p:cNvPr id="14" name="TextBox 13">
            <a:extLst>
              <a:ext uri="{FF2B5EF4-FFF2-40B4-BE49-F238E27FC236}">
                <a16:creationId xmlns:a16="http://schemas.microsoft.com/office/drawing/2014/main" id="{380B9885-1486-0C79-D3BD-9AEEF8CA37ED}"/>
              </a:ext>
            </a:extLst>
          </p:cNvPr>
          <p:cNvSpPr txBox="1"/>
          <p:nvPr/>
        </p:nvSpPr>
        <p:spPr>
          <a:xfrm>
            <a:off x="724803" y="6143087"/>
            <a:ext cx="4640825" cy="369332"/>
          </a:xfrm>
          <a:prstGeom prst="rect">
            <a:avLst/>
          </a:prstGeom>
          <a:noFill/>
        </p:spPr>
        <p:txBody>
          <a:bodyPr wrap="square" rtlCol="0">
            <a:spAutoFit/>
          </a:bodyPr>
          <a:lstStyle/>
          <a:p>
            <a:r>
              <a:rPr lang="en-IN" dirty="0"/>
              <a:t>A Few Sample Annotated slices(Used in training)</a:t>
            </a:r>
          </a:p>
        </p:txBody>
      </p:sp>
    </p:spTree>
    <p:extLst>
      <p:ext uri="{BB962C8B-B14F-4D97-AF65-F5344CB8AC3E}">
        <p14:creationId xmlns:p14="http://schemas.microsoft.com/office/powerpoint/2010/main" val="2192630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
        <p:nvSpPr>
          <p:cNvPr id="11" name="Title 10">
            <a:extLst>
              <a:ext uri="{FF2B5EF4-FFF2-40B4-BE49-F238E27FC236}">
                <a16:creationId xmlns:a16="http://schemas.microsoft.com/office/drawing/2014/main" id="{C9AC7FD7-01BA-A851-8A5C-298BAC411702}"/>
              </a:ext>
            </a:extLst>
          </p:cNvPr>
          <p:cNvSpPr>
            <a:spLocks noGrp="1"/>
          </p:cNvSpPr>
          <p:nvPr>
            <p:ph type="title"/>
          </p:nvPr>
        </p:nvSpPr>
        <p:spPr>
          <a:xfrm>
            <a:off x="294967" y="152401"/>
            <a:ext cx="10743610" cy="914400"/>
          </a:xfrm>
        </p:spPr>
        <p:txBody>
          <a:bodyPr/>
          <a:lstStyle/>
          <a:p>
            <a:r>
              <a:rPr lang="en-IN" sz="4000" u="sng" dirty="0"/>
              <a:t>Methods &amp; Experiments </a:t>
            </a:r>
            <a:endParaRPr lang="en-US" sz="4000" i="1" u="sng" dirty="0"/>
          </a:p>
        </p:txBody>
      </p:sp>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05B2A5D7-D9BC-4604-B823-7B03E740B703}"/>
                  </a:ext>
                </a:extLst>
              </p:cNvPr>
              <p:cNvSpPr txBox="1">
                <a:spLocks/>
              </p:cNvSpPr>
              <p:nvPr/>
            </p:nvSpPr>
            <p:spPr>
              <a:xfrm>
                <a:off x="254113" y="1150489"/>
                <a:ext cx="5974816" cy="5456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u="sng" dirty="0"/>
                  <a:t>Pre-processing</a:t>
                </a:r>
              </a:p>
              <a:p>
                <a:pPr lvl="1"/>
                <a:r>
                  <a:rPr lang="en-IN" sz="1600" dirty="0"/>
                  <a:t>Per-patient min–max normalization → scale to </a:t>
                </a:r>
                <a14:m>
                  <m:oMath xmlns:m="http://schemas.openxmlformats.org/officeDocument/2006/math">
                    <m:r>
                      <a:rPr lang="en-IN" sz="1600"/>
                      <m:t>0,1</m:t>
                    </m:r>
                  </m:oMath>
                </a14:m>
                <a:r>
                  <a:rPr lang="en-IN" sz="1600" dirty="0"/>
                  <a:t>.</a:t>
                </a:r>
              </a:p>
              <a:p>
                <a:pPr lvl="1"/>
                <a:r>
                  <a:rPr lang="en-IN" sz="1600" dirty="0"/>
                  <a:t>After resampling, per-patient z-score normalization.</a:t>
                </a:r>
              </a:p>
              <a:p>
                <a:pPr lvl="1"/>
                <a:r>
                  <a:rPr lang="en-IN" sz="1600" dirty="0"/>
                  <a:t>All CTs and masks resampled to </a:t>
                </a:r>
                <a:r>
                  <a:rPr lang="en-IN" sz="1600" b="1" dirty="0"/>
                  <a:t>256×256×256</a:t>
                </a:r>
                <a:endParaRPr lang="en-IN" sz="1600" dirty="0"/>
              </a:p>
              <a:p>
                <a:pPr lvl="2"/>
                <a:r>
                  <a:rPr lang="en-IN" sz="1600" dirty="0"/>
                  <a:t>Linear interpolation for CT Scans</a:t>
                </a:r>
              </a:p>
              <a:p>
                <a:pPr lvl="2"/>
                <a:r>
                  <a:rPr lang="en-IN" sz="1600" dirty="0"/>
                  <a:t>Nearest-</a:t>
                </a:r>
                <a:r>
                  <a:rPr lang="en-IN" sz="1600" dirty="0" err="1"/>
                  <a:t>neighbor</a:t>
                </a:r>
                <a:r>
                  <a:rPr lang="en-IN" sz="1600" dirty="0"/>
                  <a:t> for masks</a:t>
                </a:r>
              </a:p>
              <a:p>
                <a:pPr marL="0" indent="0">
                  <a:buNone/>
                </a:pPr>
                <a:r>
                  <a:rPr lang="en-IN" b="1" u="sng" dirty="0"/>
                  <a:t>Model Changes</a:t>
                </a:r>
              </a:p>
              <a:p>
                <a:pPr lvl="1"/>
                <a:r>
                  <a:rPr lang="en-IN" sz="1600" dirty="0"/>
                  <a:t>Re-implemented baseline architecture for fair comparison.</a:t>
                </a:r>
              </a:p>
              <a:p>
                <a:pPr lvl="1"/>
                <a:r>
                  <a:rPr lang="en-IN" sz="1600" dirty="0"/>
                  <a:t>Replaced ResNet with a </a:t>
                </a:r>
                <a:r>
                  <a:rPr lang="en-IN" sz="1600" b="1" dirty="0"/>
                  <a:t>Swin Transformer encoder</a:t>
                </a:r>
                <a:r>
                  <a:rPr lang="en-IN" sz="1600" dirty="0"/>
                  <a:t>.</a:t>
                </a:r>
              </a:p>
              <a:p>
                <a:pPr lvl="1"/>
                <a:r>
                  <a:rPr lang="en-IN" sz="1600" dirty="0"/>
                  <a:t>Fused SIM early using a </a:t>
                </a:r>
                <a:r>
                  <a:rPr lang="en-IN" sz="1600" b="1" dirty="0"/>
                  <a:t>single attention gate</a:t>
                </a:r>
                <a:r>
                  <a:rPr lang="en-IN" sz="1600" dirty="0"/>
                  <a:t>.</a:t>
                </a:r>
              </a:p>
              <a:p>
                <a:pPr marL="0" indent="0">
                  <a:buNone/>
                </a:pPr>
                <a:r>
                  <a:rPr lang="en-IN" b="1" u="sng" dirty="0"/>
                  <a:t>Hyperparameter tuning</a:t>
                </a:r>
                <a:r>
                  <a:rPr lang="en-IN" u="sng" dirty="0"/>
                  <a:t>.</a:t>
                </a:r>
              </a:p>
              <a:p>
                <a:pPr lvl="1"/>
                <a:r>
                  <a:rPr lang="en-IN" sz="1600" dirty="0"/>
                  <a:t>SIM depth: baseline = 3; Swin model tested with 3 and 4.</a:t>
                </a:r>
              </a:p>
              <a:p>
                <a:pPr lvl="1"/>
                <a:r>
                  <a:rPr lang="en-IN" sz="1600" dirty="0"/>
                  <a:t>Varied number of clicks and measured Dice change.</a:t>
                </a:r>
              </a:p>
              <a:p>
                <a:pPr lvl="1"/>
                <a:r>
                  <a:rPr lang="en-IN" sz="1600" dirty="0"/>
                  <a:t>Tried two different background-penalization methods</a:t>
                </a:r>
              </a:p>
              <a:p>
                <a:pPr lvl="1"/>
                <a:r>
                  <a:rPr lang="en-IN" sz="1600" dirty="0"/>
                  <a:t>Tried with diff </a:t>
                </a:r>
                <a:r>
                  <a:rPr lang="en-IN" sz="1600" dirty="0" err="1"/>
                  <a:t>wts</a:t>
                </a:r>
                <a:r>
                  <a:rPr lang="en-IN" sz="1600" dirty="0"/>
                  <a:t> alpha and beta of DICE score</a:t>
                </a:r>
              </a:p>
              <a:p>
                <a:pPr lvl="1"/>
                <a:endParaRPr lang="en-IN" sz="1600" dirty="0"/>
              </a:p>
            </p:txBody>
          </p:sp>
        </mc:Choice>
        <mc:Fallback>
          <p:sp>
            <p:nvSpPr>
              <p:cNvPr id="12" name="Content Placeholder 2">
                <a:extLst>
                  <a:ext uri="{FF2B5EF4-FFF2-40B4-BE49-F238E27FC236}">
                    <a16:creationId xmlns:a16="http://schemas.microsoft.com/office/drawing/2014/main" id="{05B2A5D7-D9BC-4604-B823-7B03E740B703}"/>
                  </a:ext>
                </a:extLst>
              </p:cNvPr>
              <p:cNvSpPr txBox="1">
                <a:spLocks noRot="1" noChangeAspect="1" noMove="1" noResize="1" noEditPoints="1" noAdjustHandles="1" noChangeArrowheads="1" noChangeShapeType="1" noTextEdit="1"/>
              </p:cNvSpPr>
              <p:nvPr/>
            </p:nvSpPr>
            <p:spPr>
              <a:xfrm>
                <a:off x="254113" y="1150489"/>
                <a:ext cx="5974816" cy="5456788"/>
              </a:xfrm>
              <a:prstGeom prst="rect">
                <a:avLst/>
              </a:prstGeom>
              <a:blipFill>
                <a:blip r:embed="rId2"/>
                <a:stretch>
                  <a:fillRect l="-1122" t="-1117"/>
                </a:stretch>
              </a:blipFill>
            </p:spPr>
            <p:txBody>
              <a:bodyPr/>
              <a:lstStyle/>
              <a:p>
                <a:r>
                  <a:rPr lang="en-IN">
                    <a:noFill/>
                  </a:rPr>
                  <a:t> </a:t>
                </a:r>
              </a:p>
            </p:txBody>
          </p:sp>
        </mc:Fallback>
      </mc:AlternateContent>
      <p:sp>
        <p:nvSpPr>
          <p:cNvPr id="2" name="Content Placeholder 2">
            <a:extLst>
              <a:ext uri="{FF2B5EF4-FFF2-40B4-BE49-F238E27FC236}">
                <a16:creationId xmlns:a16="http://schemas.microsoft.com/office/drawing/2014/main" id="{BBB4B535-D053-7D98-DDB1-ED439452E43A}"/>
              </a:ext>
            </a:extLst>
          </p:cNvPr>
          <p:cNvSpPr txBox="1">
            <a:spLocks/>
          </p:cNvSpPr>
          <p:nvPr/>
        </p:nvSpPr>
        <p:spPr>
          <a:xfrm>
            <a:off x="6228929" y="1425677"/>
            <a:ext cx="5786287" cy="4729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200" b="1" dirty="0"/>
              <a:t>Loss functions </a:t>
            </a:r>
          </a:p>
          <a:p>
            <a:pPr marL="0" indent="0">
              <a:buNone/>
            </a:pPr>
            <a:r>
              <a:rPr lang="en-IN" sz="1800" b="1" u="sng" dirty="0"/>
              <a:t>ResNet Baseline</a:t>
            </a:r>
          </a:p>
          <a:p>
            <a:r>
              <a:rPr lang="en-IN" sz="1800" dirty="0"/>
              <a:t>Tested multiple losses: </a:t>
            </a:r>
            <a:r>
              <a:rPr lang="en-IN" sz="1800" b="1" dirty="0"/>
              <a:t>Dice only</a:t>
            </a:r>
            <a:r>
              <a:rPr lang="en-IN" sz="1800" dirty="0"/>
              <a:t>, </a:t>
            </a:r>
            <a:r>
              <a:rPr lang="en-IN" sz="1800" b="1" dirty="0"/>
              <a:t>Dice + CE</a:t>
            </a:r>
            <a:r>
              <a:rPr lang="en-IN" sz="1800" dirty="0"/>
              <a:t>, and </a:t>
            </a:r>
            <a:r>
              <a:rPr lang="en-IN" sz="1800" b="1" dirty="0"/>
              <a:t>Dice + Tversky (ComboLoss)</a:t>
            </a:r>
            <a:r>
              <a:rPr lang="en-IN" sz="1800" dirty="0"/>
              <a:t>.</a:t>
            </a:r>
          </a:p>
          <a:p>
            <a:r>
              <a:rPr lang="en-IN" sz="1800" dirty="0"/>
              <a:t>After experiments, </a:t>
            </a:r>
            <a:r>
              <a:rPr lang="en-IN" sz="1800" b="1" dirty="0"/>
              <a:t>Dice + Tversky</a:t>
            </a:r>
            <a:r>
              <a:rPr lang="en-IN" sz="1800" dirty="0"/>
              <a:t> gave the most stable gradients and best Dice performance.</a:t>
            </a:r>
            <a:br>
              <a:rPr lang="en-IN" sz="1800" dirty="0"/>
            </a:br>
            <a:endParaRPr lang="en-IN" sz="1800" dirty="0"/>
          </a:p>
          <a:p>
            <a:pPr marL="0" indent="0">
              <a:buNone/>
            </a:pPr>
            <a:r>
              <a:rPr lang="en-IN" sz="1800" b="1" u="sng" dirty="0"/>
              <a:t>Swin Transformer Model</a:t>
            </a:r>
          </a:p>
          <a:p>
            <a:r>
              <a:rPr lang="en-IN" sz="1800" dirty="0"/>
              <a:t>Evaluated a wide range of losses including </a:t>
            </a:r>
            <a:r>
              <a:rPr lang="en-IN" sz="1800" b="1" dirty="0"/>
              <a:t>Dice</a:t>
            </a:r>
            <a:r>
              <a:rPr lang="en-IN" sz="1800" dirty="0"/>
              <a:t>, </a:t>
            </a:r>
            <a:r>
              <a:rPr lang="en-IN" sz="1800" b="1" dirty="0"/>
              <a:t>Dice+CE</a:t>
            </a:r>
            <a:r>
              <a:rPr lang="en-IN" sz="1800" dirty="0"/>
              <a:t>, </a:t>
            </a:r>
            <a:r>
              <a:rPr lang="en-IN" sz="1800" b="1" dirty="0"/>
              <a:t>Tversky</a:t>
            </a:r>
            <a:r>
              <a:rPr lang="en-IN" sz="1800" dirty="0"/>
              <a:t>, </a:t>
            </a:r>
            <a:r>
              <a:rPr lang="en-IN" sz="1800" b="1" dirty="0"/>
              <a:t>Dice+Tversky</a:t>
            </a:r>
            <a:r>
              <a:rPr lang="en-IN" sz="1800" dirty="0"/>
              <a:t>, and </a:t>
            </a:r>
            <a:r>
              <a:rPr lang="en-IN" sz="1800" b="1" dirty="0"/>
              <a:t>weighted CE variants</a:t>
            </a:r>
            <a:r>
              <a:rPr lang="en-IN" sz="1800" dirty="0"/>
              <a:t> </a:t>
            </a:r>
          </a:p>
          <a:p>
            <a:r>
              <a:rPr lang="en-IN" sz="1800" dirty="0"/>
              <a:t>Also experimented with different </a:t>
            </a:r>
            <a:r>
              <a:rPr lang="el-GR" sz="1800" b="1" dirty="0"/>
              <a:t>α </a:t>
            </a:r>
            <a:r>
              <a:rPr lang="en-IN" sz="1800" b="1" dirty="0"/>
              <a:t>and </a:t>
            </a:r>
            <a:r>
              <a:rPr lang="el-GR" sz="1800" b="1" dirty="0"/>
              <a:t>β</a:t>
            </a:r>
            <a:r>
              <a:rPr lang="el-GR" sz="1800" dirty="0"/>
              <a:t> </a:t>
            </a:r>
            <a:r>
              <a:rPr lang="en-IN" sz="1800" dirty="0"/>
              <a:t>values in the Tversky formulation.</a:t>
            </a:r>
          </a:p>
          <a:p>
            <a:r>
              <a:rPr lang="en-IN" sz="1800" b="1" dirty="0"/>
              <a:t>Dice + </a:t>
            </a:r>
            <a:r>
              <a:rPr lang="en-IN" sz="1800" b="1" dirty="0" err="1"/>
              <a:t>wtd</a:t>
            </a:r>
            <a:r>
              <a:rPr lang="en-IN" sz="1800" b="1" dirty="0"/>
              <a:t> CE</a:t>
            </a:r>
            <a:r>
              <a:rPr lang="en-IN" sz="1800" dirty="0"/>
              <a:t> gave the best overall results for the Swin-based architecture.</a:t>
            </a:r>
          </a:p>
          <a:p>
            <a:pPr marL="0" indent="0">
              <a:lnSpc>
                <a:spcPct val="120000"/>
              </a:lnSpc>
              <a:buNone/>
            </a:pPr>
            <a:br>
              <a:rPr lang="en-IN" sz="1800" b="1" dirty="0"/>
            </a:br>
            <a:endParaRPr lang="en-IN" sz="1800" dirty="0"/>
          </a:p>
        </p:txBody>
      </p:sp>
    </p:spTree>
    <p:extLst>
      <p:ext uri="{BB962C8B-B14F-4D97-AF65-F5344CB8AC3E}">
        <p14:creationId xmlns:p14="http://schemas.microsoft.com/office/powerpoint/2010/main" val="53780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500"/>
                                        <p:tgtEl>
                                          <p:spTgt spid="1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fade">
                                      <p:cBhvr>
                                        <p:cTn id="10" dur="500"/>
                                        <p:tgtEl>
                                          <p:spTgt spid="1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animEffect transition="in" filter="fade">
                                      <p:cBhvr>
                                        <p:cTn id="13" dur="500"/>
                                        <p:tgtEl>
                                          <p:spTgt spid="1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xEl>
                                              <p:pRg st="4" end="4"/>
                                            </p:txEl>
                                          </p:spTgt>
                                        </p:tgtEl>
                                        <p:attrNameLst>
                                          <p:attrName>style.visibility</p:attrName>
                                        </p:attrNameLst>
                                      </p:cBhvr>
                                      <p:to>
                                        <p:strVal val="visible"/>
                                      </p:to>
                                    </p:set>
                                    <p:animEffect transition="in" filter="fade">
                                      <p:cBhvr>
                                        <p:cTn id="16" dur="500"/>
                                        <p:tgtEl>
                                          <p:spTgt spid="12">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xEl>
                                              <p:pRg st="5" end="5"/>
                                            </p:txEl>
                                          </p:spTgt>
                                        </p:tgtEl>
                                        <p:attrNameLst>
                                          <p:attrName>style.visibility</p:attrName>
                                        </p:attrNameLst>
                                      </p:cBhvr>
                                      <p:to>
                                        <p:strVal val="visible"/>
                                      </p:to>
                                    </p:set>
                                    <p:animEffect transition="in" filter="fade">
                                      <p:cBhvr>
                                        <p:cTn id="19" dur="500"/>
                                        <p:tgtEl>
                                          <p:spTgt spid="12">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xEl>
                                              <p:pRg st="6" end="6"/>
                                            </p:txEl>
                                          </p:spTgt>
                                        </p:tgtEl>
                                        <p:attrNameLst>
                                          <p:attrName>style.visibility</p:attrName>
                                        </p:attrNameLst>
                                      </p:cBhvr>
                                      <p:to>
                                        <p:strVal val="visible"/>
                                      </p:to>
                                    </p:set>
                                    <p:animEffect transition="in" filter="fade">
                                      <p:cBhvr>
                                        <p:cTn id="24" dur="500"/>
                                        <p:tgtEl>
                                          <p:spTgt spid="12">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animEffect transition="in" filter="fade">
                                      <p:cBhvr>
                                        <p:cTn id="29" dur="500"/>
                                        <p:tgtEl>
                                          <p:spTgt spid="12">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xEl>
                                              <p:pRg st="8" end="8"/>
                                            </p:txEl>
                                          </p:spTgt>
                                        </p:tgtEl>
                                        <p:attrNameLst>
                                          <p:attrName>style.visibility</p:attrName>
                                        </p:attrNameLst>
                                      </p:cBhvr>
                                      <p:to>
                                        <p:strVal val="visible"/>
                                      </p:to>
                                    </p:set>
                                    <p:animEffect transition="in" filter="fade">
                                      <p:cBhvr>
                                        <p:cTn id="32" dur="500"/>
                                        <p:tgtEl>
                                          <p:spTgt spid="12">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xEl>
                                              <p:pRg st="9" end="9"/>
                                            </p:txEl>
                                          </p:spTgt>
                                        </p:tgtEl>
                                        <p:attrNameLst>
                                          <p:attrName>style.visibility</p:attrName>
                                        </p:attrNameLst>
                                      </p:cBhvr>
                                      <p:to>
                                        <p:strVal val="visible"/>
                                      </p:to>
                                    </p:set>
                                    <p:animEffect transition="in" filter="fade">
                                      <p:cBhvr>
                                        <p:cTn id="35" dur="500"/>
                                        <p:tgtEl>
                                          <p:spTgt spid="12">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2">
                                            <p:txEl>
                                              <p:pRg st="10" end="10"/>
                                            </p:txEl>
                                          </p:spTgt>
                                        </p:tgtEl>
                                        <p:attrNameLst>
                                          <p:attrName>style.visibility</p:attrName>
                                        </p:attrNameLst>
                                      </p:cBhvr>
                                      <p:to>
                                        <p:strVal val="visible"/>
                                      </p:to>
                                    </p:set>
                                    <p:animEffect transition="in" filter="fade">
                                      <p:cBhvr>
                                        <p:cTn id="40" dur="500"/>
                                        <p:tgtEl>
                                          <p:spTgt spid="12">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2">
                                            <p:txEl>
                                              <p:pRg st="11" end="11"/>
                                            </p:txEl>
                                          </p:spTgt>
                                        </p:tgtEl>
                                        <p:attrNameLst>
                                          <p:attrName>style.visibility</p:attrName>
                                        </p:attrNameLst>
                                      </p:cBhvr>
                                      <p:to>
                                        <p:strVal val="visible"/>
                                      </p:to>
                                    </p:set>
                                    <p:animEffect transition="in" filter="fade">
                                      <p:cBhvr>
                                        <p:cTn id="43" dur="500"/>
                                        <p:tgtEl>
                                          <p:spTgt spid="12">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2">
                                            <p:txEl>
                                              <p:pRg st="12" end="12"/>
                                            </p:txEl>
                                          </p:spTgt>
                                        </p:tgtEl>
                                        <p:attrNameLst>
                                          <p:attrName>style.visibility</p:attrName>
                                        </p:attrNameLst>
                                      </p:cBhvr>
                                      <p:to>
                                        <p:strVal val="visible"/>
                                      </p:to>
                                    </p:set>
                                    <p:animEffect transition="in" filter="fade">
                                      <p:cBhvr>
                                        <p:cTn id="46" dur="500"/>
                                        <p:tgtEl>
                                          <p:spTgt spid="12">
                                            <p:txEl>
                                              <p:pRg st="12" end="1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2">
                                            <p:txEl>
                                              <p:pRg st="13" end="13"/>
                                            </p:txEl>
                                          </p:spTgt>
                                        </p:tgtEl>
                                        <p:attrNameLst>
                                          <p:attrName>style.visibility</p:attrName>
                                        </p:attrNameLst>
                                      </p:cBhvr>
                                      <p:to>
                                        <p:strVal val="visible"/>
                                      </p:to>
                                    </p:set>
                                    <p:animEffect transition="in" filter="fade">
                                      <p:cBhvr>
                                        <p:cTn id="49" dur="500"/>
                                        <p:tgtEl>
                                          <p:spTgt spid="12">
                                            <p:txEl>
                                              <p:pRg st="13" end="1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2">
                                            <p:txEl>
                                              <p:pRg st="14" end="14"/>
                                            </p:txEl>
                                          </p:spTgt>
                                        </p:tgtEl>
                                        <p:attrNameLst>
                                          <p:attrName>style.visibility</p:attrName>
                                        </p:attrNameLst>
                                      </p:cBhvr>
                                      <p:to>
                                        <p:strVal val="visible"/>
                                      </p:to>
                                    </p:set>
                                    <p:animEffect transition="in" filter="fade">
                                      <p:cBhvr>
                                        <p:cTn id="52" dur="500"/>
                                        <p:tgtEl>
                                          <p:spTgt spid="12">
                                            <p:txEl>
                                              <p:pRg st="14" end="1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0" end="0"/>
                                            </p:txEl>
                                          </p:spTgt>
                                        </p:tgtEl>
                                        <p:attrNameLst>
                                          <p:attrName>style.visibility</p:attrName>
                                        </p:attrNameLst>
                                      </p:cBhvr>
                                      <p:to>
                                        <p:strVal val="visible"/>
                                      </p:to>
                                    </p:set>
                                    <p:animEffect transition="in" filter="fade">
                                      <p:cBhvr>
                                        <p:cTn id="57" dur="500"/>
                                        <p:tgtEl>
                                          <p:spTgt spid="2">
                                            <p:txEl>
                                              <p:pRg st="0" end="0"/>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2">
                                            <p:txEl>
                                              <p:pRg st="1" end="1"/>
                                            </p:txEl>
                                          </p:spTgt>
                                        </p:tgtEl>
                                        <p:attrNameLst>
                                          <p:attrName>style.visibility</p:attrName>
                                        </p:attrNameLst>
                                      </p:cBhvr>
                                      <p:to>
                                        <p:strVal val="visible"/>
                                      </p:to>
                                    </p:set>
                                    <p:animEffect transition="in" filter="fade">
                                      <p:cBhvr>
                                        <p:cTn id="60" dur="500"/>
                                        <p:tgtEl>
                                          <p:spTgt spid="2">
                                            <p:txEl>
                                              <p:pRg st="1" end="1"/>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2">
                                            <p:txEl>
                                              <p:pRg st="2" end="2"/>
                                            </p:txEl>
                                          </p:spTgt>
                                        </p:tgtEl>
                                        <p:attrNameLst>
                                          <p:attrName>style.visibility</p:attrName>
                                        </p:attrNameLst>
                                      </p:cBhvr>
                                      <p:to>
                                        <p:strVal val="visible"/>
                                      </p:to>
                                    </p:set>
                                    <p:animEffect transition="in" filter="fade">
                                      <p:cBhvr>
                                        <p:cTn id="63" dur="500"/>
                                        <p:tgtEl>
                                          <p:spTgt spid="2">
                                            <p:txEl>
                                              <p:pRg st="2" end="2"/>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2">
                                            <p:txEl>
                                              <p:pRg st="3" end="3"/>
                                            </p:txEl>
                                          </p:spTgt>
                                        </p:tgtEl>
                                        <p:attrNameLst>
                                          <p:attrName>style.visibility</p:attrName>
                                        </p:attrNameLst>
                                      </p:cBhvr>
                                      <p:to>
                                        <p:strVal val="visible"/>
                                      </p:to>
                                    </p:set>
                                    <p:animEffect transition="in" filter="fade">
                                      <p:cBhvr>
                                        <p:cTn id="66" dur="500"/>
                                        <p:tgtEl>
                                          <p:spTgt spid="2">
                                            <p:txEl>
                                              <p:pRg st="3" end="3"/>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2">
                                            <p:txEl>
                                              <p:pRg st="4" end="4"/>
                                            </p:txEl>
                                          </p:spTgt>
                                        </p:tgtEl>
                                        <p:attrNameLst>
                                          <p:attrName>style.visibility</p:attrName>
                                        </p:attrNameLst>
                                      </p:cBhvr>
                                      <p:to>
                                        <p:strVal val="visible"/>
                                      </p:to>
                                    </p:set>
                                    <p:animEffect transition="in" filter="fade">
                                      <p:cBhvr>
                                        <p:cTn id="69" dur="500"/>
                                        <p:tgtEl>
                                          <p:spTgt spid="2">
                                            <p:txEl>
                                              <p:pRg st="4" end="4"/>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2">
                                            <p:txEl>
                                              <p:pRg st="5" end="5"/>
                                            </p:txEl>
                                          </p:spTgt>
                                        </p:tgtEl>
                                        <p:attrNameLst>
                                          <p:attrName>style.visibility</p:attrName>
                                        </p:attrNameLst>
                                      </p:cBhvr>
                                      <p:to>
                                        <p:strVal val="visible"/>
                                      </p:to>
                                    </p:set>
                                    <p:animEffect transition="in" filter="fade">
                                      <p:cBhvr>
                                        <p:cTn id="72" dur="500"/>
                                        <p:tgtEl>
                                          <p:spTgt spid="2">
                                            <p:txEl>
                                              <p:pRg st="5" end="5"/>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2">
                                            <p:txEl>
                                              <p:pRg st="6" end="6"/>
                                            </p:txEl>
                                          </p:spTgt>
                                        </p:tgtEl>
                                        <p:attrNameLst>
                                          <p:attrName>style.visibility</p:attrName>
                                        </p:attrNameLst>
                                      </p:cBhvr>
                                      <p:to>
                                        <p:strVal val="visible"/>
                                      </p:to>
                                    </p:set>
                                    <p:animEffect transition="in" filter="fade">
                                      <p:cBhvr>
                                        <p:cTn id="75" dur="500"/>
                                        <p:tgtEl>
                                          <p:spTgt spid="2">
                                            <p:txEl>
                                              <p:pRg st="6" end="6"/>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2">
                                            <p:txEl>
                                              <p:pRg st="7" end="7"/>
                                            </p:txEl>
                                          </p:spTgt>
                                        </p:tgtEl>
                                        <p:attrNameLst>
                                          <p:attrName>style.visibility</p:attrName>
                                        </p:attrNameLst>
                                      </p:cBhvr>
                                      <p:to>
                                        <p:strVal val="visible"/>
                                      </p:to>
                                    </p:set>
                                    <p:animEffect transition="in" filter="fade">
                                      <p:cBhvr>
                                        <p:cTn id="78" dur="500"/>
                                        <p:tgtEl>
                                          <p:spTgt spid="2">
                                            <p:txEl>
                                              <p:pRg st="7" end="7"/>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2">
                                            <p:txEl>
                                              <p:pRg st="8" end="8"/>
                                            </p:txEl>
                                          </p:spTgt>
                                        </p:tgtEl>
                                        <p:attrNameLst>
                                          <p:attrName>style.visibility</p:attrName>
                                        </p:attrNameLst>
                                      </p:cBhvr>
                                      <p:to>
                                        <p:strVal val="visible"/>
                                      </p:to>
                                    </p:set>
                                    <p:animEffect transition="in" filter="fade">
                                      <p:cBhvr>
                                        <p:cTn id="81"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
        <p:nvSpPr>
          <p:cNvPr id="6" name="Title 5">
            <a:extLst>
              <a:ext uri="{FF2B5EF4-FFF2-40B4-BE49-F238E27FC236}">
                <a16:creationId xmlns:a16="http://schemas.microsoft.com/office/drawing/2014/main" id="{B86B6A01-571A-6DC3-5240-F86D126A5F74}"/>
              </a:ext>
            </a:extLst>
          </p:cNvPr>
          <p:cNvSpPr>
            <a:spLocks noGrp="1"/>
          </p:cNvSpPr>
          <p:nvPr>
            <p:ph type="title"/>
          </p:nvPr>
        </p:nvSpPr>
        <p:spPr/>
        <p:txBody>
          <a:bodyPr/>
          <a:lstStyle/>
          <a:p>
            <a:r>
              <a:rPr lang="en-IN" dirty="0"/>
              <a:t>Architecture modifications made to use Swin Transformer </a:t>
            </a:r>
          </a:p>
        </p:txBody>
      </p:sp>
      <p:sp>
        <p:nvSpPr>
          <p:cNvPr id="11" name="Content Placeholder 10">
            <a:extLst>
              <a:ext uri="{FF2B5EF4-FFF2-40B4-BE49-F238E27FC236}">
                <a16:creationId xmlns:a16="http://schemas.microsoft.com/office/drawing/2014/main" id="{70811BDF-A79B-9BE8-30F2-48128C75BD54}"/>
              </a:ext>
            </a:extLst>
          </p:cNvPr>
          <p:cNvSpPr>
            <a:spLocks noGrp="1"/>
          </p:cNvSpPr>
          <p:nvPr>
            <p:ph sz="quarter" idx="12"/>
          </p:nvPr>
        </p:nvSpPr>
        <p:spPr>
          <a:xfrm>
            <a:off x="914400" y="2088385"/>
            <a:ext cx="11100816" cy="4233757"/>
          </a:xfrm>
        </p:spPr>
        <p:txBody>
          <a:bodyPr>
            <a:normAutofit fontScale="92500" lnSpcReduction="10000"/>
          </a:bodyPr>
          <a:lstStyle/>
          <a:p>
            <a:r>
              <a:rPr lang="en-US" dirty="0"/>
              <a:t>The ResNet34 encoder (based on 3×3 convolutions and limited local receptive fields) was replaced with a </a:t>
            </a:r>
            <a:r>
              <a:rPr lang="en-US" b="1" dirty="0"/>
              <a:t>multi-stage Swin Transformer encoder</a:t>
            </a:r>
            <a:r>
              <a:rPr lang="en-US" dirty="0"/>
              <a:t>, enabling hierarchical window-based self-attention and richer multi-scale feature representations with global context.</a:t>
            </a:r>
          </a:p>
          <a:p>
            <a:pPr marL="342900" indent="-342900">
              <a:buFont typeface="Arial" panose="020B0604020202020204" pitchFamily="34" charset="0"/>
              <a:buChar char="•"/>
            </a:pPr>
            <a:r>
              <a:rPr lang="en-US" dirty="0"/>
              <a:t>The Swin Transformer backbone was instantiated from </a:t>
            </a:r>
            <a:r>
              <a:rPr lang="en-US" b="1" dirty="0"/>
              <a:t>TIMM’s pretrained model-</a:t>
            </a:r>
            <a:r>
              <a:rPr lang="en-US" i="1" dirty="0"/>
              <a:t>swinv2_tiny_window8_256</a:t>
            </a:r>
            <a:r>
              <a:rPr lang="en-US" dirty="0"/>
              <a:t>, allowing the network to leverage </a:t>
            </a:r>
            <a:r>
              <a:rPr lang="en-US" b="1" dirty="0"/>
              <a:t>pretrained weights</a:t>
            </a:r>
            <a:r>
              <a:rPr lang="en-US" dirty="0"/>
              <a:t> learned from large-scale image datasets, improving feature richness and accelerating convergence.</a:t>
            </a:r>
          </a:p>
          <a:p>
            <a:pPr marL="342900" indent="-342900">
              <a:buFont typeface="Arial" panose="020B0604020202020204" pitchFamily="34" charset="0"/>
              <a:buChar char="•"/>
            </a:pPr>
            <a:r>
              <a:rPr lang="en-US" b="1" dirty="0"/>
              <a:t>Early fusion of SIM with encoder</a:t>
            </a:r>
            <a:r>
              <a:rPr lang="en-US" dirty="0"/>
              <a:t>:</a:t>
            </a:r>
          </a:p>
          <a:p>
            <a:pPr lvl="2"/>
            <a:r>
              <a:rPr lang="en-US" dirty="0"/>
              <a:t>SIM is first compressed with a 1×1 conv and concatenated with the encoder feature e1, then passed through an attention gate to generate a per-pixel weighting mask.</a:t>
            </a:r>
          </a:p>
          <a:p>
            <a:pPr lvl="2"/>
            <a:r>
              <a:rPr lang="en-US" dirty="0"/>
              <a:t>The gated SIM feature (gate * </a:t>
            </a:r>
            <a:r>
              <a:rPr lang="en-US" dirty="0" err="1"/>
              <a:t>sim_feat</a:t>
            </a:r>
            <a:r>
              <a:rPr lang="en-US" dirty="0"/>
              <a:t>) is added to e1, producing a corrected and SIM-enhanced encoder feature map used for the rest of the network (</a:t>
            </a:r>
            <a:r>
              <a:rPr lang="en-IN" i="1" dirty="0">
                <a:latin typeface="Candara" panose="020E0502030303020204" pitchFamily="34" charset="0"/>
              </a:rPr>
              <a:t>e1_fused​=e1+gate×sim_feat)</a:t>
            </a:r>
            <a:endParaRPr lang="en-US" i="1" dirty="0">
              <a:latin typeface="Candara" panose="020E0502030303020204" pitchFamily="34" charset="0"/>
            </a:endParaRPr>
          </a:p>
          <a:p>
            <a:pPr marL="342900" indent="-342900">
              <a:buFont typeface="Arial" panose="020B0604020202020204" pitchFamily="34" charset="0"/>
              <a:buChar char="•"/>
            </a:pPr>
            <a:r>
              <a:rPr lang="en-US" dirty="0"/>
              <a:t>The </a:t>
            </a:r>
            <a:r>
              <a:rPr lang="en-US" dirty="0" err="1"/>
              <a:t>ConvLSTM</a:t>
            </a:r>
            <a:r>
              <a:rPr lang="en-US" dirty="0"/>
              <a:t>-guided decoder was retained to enable sequential refinement </a:t>
            </a:r>
            <a:r>
              <a:rPr lang="en-US" b="1" dirty="0"/>
              <a:t>without SIM the states.</a:t>
            </a:r>
          </a:p>
          <a:p>
            <a:pPr marL="342900" indent="-342900">
              <a:buFont typeface="Arial" panose="020B0604020202020204" pitchFamily="34" charset="0"/>
              <a:buChar char="•"/>
            </a:pPr>
            <a:r>
              <a:rPr lang="en-US" dirty="0"/>
              <a:t>Swin’s hierarchical feature maps (channels: </a:t>
            </a:r>
            <a:r>
              <a:rPr lang="en-US" b="1" dirty="0"/>
              <a:t>[96, 192, 384, 768]</a:t>
            </a:r>
            <a:r>
              <a:rPr lang="en-US" dirty="0"/>
              <a:t>) were adapted to match the decoder and </a:t>
            </a:r>
            <a:r>
              <a:rPr lang="en-US" dirty="0" err="1"/>
              <a:t>ConvLSTM</a:t>
            </a:r>
            <a:r>
              <a:rPr lang="en-US" dirty="0"/>
              <a:t> bottleneck, ensuring smooth multi-resolution fusion.</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413214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fade">
                                      <p:cBhvr>
                                        <p:cTn id="20" dur="500"/>
                                        <p:tgtEl>
                                          <p:spTgt spid="11">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animEffect transition="in" filter="fade">
                                      <p:cBhvr>
                                        <p:cTn id="23" dur="500"/>
                                        <p:tgtEl>
                                          <p:spTgt spid="1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fade">
                                      <p:cBhvr>
                                        <p:cTn id="28" dur="500"/>
                                        <p:tgtEl>
                                          <p:spTgt spid="11">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animEffect transition="in" filter="fade">
                                      <p:cBhvr>
                                        <p:cTn id="31"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2B49-F615-3C95-F0FE-19DCB90FB34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003C64-5472-B480-1E81-E336422C29A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
        <p:nvSpPr>
          <p:cNvPr id="6" name="Title 5">
            <a:extLst>
              <a:ext uri="{FF2B5EF4-FFF2-40B4-BE49-F238E27FC236}">
                <a16:creationId xmlns:a16="http://schemas.microsoft.com/office/drawing/2014/main" id="{BA94BD74-9BFF-CBBA-6301-C4DBD3B84CF1}"/>
              </a:ext>
            </a:extLst>
          </p:cNvPr>
          <p:cNvSpPr>
            <a:spLocks noGrp="1"/>
          </p:cNvSpPr>
          <p:nvPr>
            <p:ph type="title"/>
          </p:nvPr>
        </p:nvSpPr>
        <p:spPr>
          <a:xfrm>
            <a:off x="393290" y="275303"/>
            <a:ext cx="10360152" cy="914400"/>
          </a:xfrm>
        </p:spPr>
        <p:txBody>
          <a:bodyPr/>
          <a:lstStyle/>
          <a:p>
            <a:r>
              <a:rPr lang="en-IN" dirty="0"/>
              <a:t>Training methods </a:t>
            </a:r>
          </a:p>
        </p:txBody>
      </p:sp>
      <p:sp>
        <p:nvSpPr>
          <p:cNvPr id="3" name="Content Placeholder 2">
            <a:extLst>
              <a:ext uri="{FF2B5EF4-FFF2-40B4-BE49-F238E27FC236}">
                <a16:creationId xmlns:a16="http://schemas.microsoft.com/office/drawing/2014/main" id="{71B9E2DA-B0B7-3C16-E9FB-FE536B048B13}"/>
              </a:ext>
            </a:extLst>
          </p:cNvPr>
          <p:cNvSpPr>
            <a:spLocks noGrp="1"/>
          </p:cNvSpPr>
          <p:nvPr>
            <p:ph sz="quarter" idx="12"/>
          </p:nvPr>
        </p:nvSpPr>
        <p:spPr>
          <a:xfrm>
            <a:off x="393290" y="1857313"/>
            <a:ext cx="5466736" cy="3840480"/>
          </a:xfrm>
        </p:spPr>
        <p:txBody>
          <a:bodyPr>
            <a:normAutofit fontScale="92500" lnSpcReduction="10000"/>
          </a:bodyPr>
          <a:lstStyle/>
          <a:p>
            <a:pPr marL="342900" indent="-342900">
              <a:buFont typeface="Wingdings" panose="05000000000000000000" pitchFamily="2" charset="2"/>
              <a:buChar char="ü"/>
            </a:pPr>
            <a:r>
              <a:rPr lang="en-IN" b="1" dirty="0"/>
              <a:t>Loss Function:</a:t>
            </a:r>
            <a:r>
              <a:rPr lang="en-IN" dirty="0"/>
              <a:t> Hybrid</a:t>
            </a:r>
            <a:r>
              <a:rPr lang="en-IN" b="1" dirty="0"/>
              <a:t> </a:t>
            </a:r>
            <a:r>
              <a:rPr lang="en-IN" dirty="0"/>
              <a:t>Dice + class-weighted CE(for Swin transformer model) and </a:t>
            </a:r>
            <a:r>
              <a:rPr lang="en-IN" dirty="0" err="1"/>
              <a:t>Dice+Tversky</a:t>
            </a:r>
            <a:r>
              <a:rPr lang="en-IN" dirty="0"/>
              <a:t> (for ResNet model), where weights are derived from inverse class frequencies to handle imbalance.</a:t>
            </a:r>
          </a:p>
          <a:p>
            <a:pPr marL="342900" indent="-342900">
              <a:buFont typeface="Wingdings" panose="05000000000000000000" pitchFamily="2" charset="2"/>
              <a:buChar char="ü"/>
            </a:pPr>
            <a:r>
              <a:rPr lang="en-IN" b="1" dirty="0"/>
              <a:t>Optimization:</a:t>
            </a:r>
            <a:r>
              <a:rPr lang="en-IN" dirty="0"/>
              <a:t> </a:t>
            </a:r>
            <a:r>
              <a:rPr lang="en-IN" b="1" dirty="0" err="1"/>
              <a:t>AdamW</a:t>
            </a:r>
            <a:r>
              <a:rPr lang="en-IN" dirty="0"/>
              <a:t> optimizer with LR = 3e-4, weight decay = 1e-5, and </a:t>
            </a:r>
            <a:r>
              <a:rPr lang="en-IN" b="1" dirty="0" err="1"/>
              <a:t>ReduceLROnPlateau</a:t>
            </a:r>
            <a:r>
              <a:rPr lang="en-IN" dirty="0"/>
              <a:t> scheduler.</a:t>
            </a:r>
          </a:p>
          <a:p>
            <a:pPr marL="342900" indent="-342900">
              <a:buFont typeface="Wingdings" panose="05000000000000000000" pitchFamily="2" charset="2"/>
              <a:buChar char="ü"/>
            </a:pPr>
            <a:r>
              <a:rPr lang="en-IN" b="1" dirty="0"/>
              <a:t>Interactive Supervision:</a:t>
            </a:r>
            <a:r>
              <a:rPr lang="en-IN" dirty="0"/>
              <a:t> Each training sample undergoes 3/</a:t>
            </a:r>
            <a:r>
              <a:rPr lang="en-IN" b="1" dirty="0"/>
              <a:t>4 rounds of DDG virtual user clicks</a:t>
            </a:r>
            <a:r>
              <a:rPr lang="en-IN" dirty="0"/>
              <a:t>, enabling the model to learn iterative refinement.</a:t>
            </a:r>
          </a:p>
          <a:p>
            <a:pPr marL="342900" indent="-342900">
              <a:buFont typeface="Wingdings" panose="05000000000000000000" pitchFamily="2" charset="2"/>
              <a:buChar char="ü"/>
            </a:pPr>
            <a:r>
              <a:rPr lang="en-IN" b="1" dirty="0"/>
              <a:t>Data Split:</a:t>
            </a:r>
            <a:r>
              <a:rPr lang="en-IN" dirty="0"/>
              <a:t> Training/validation split = </a:t>
            </a:r>
            <a:r>
              <a:rPr lang="en-IN" b="1" dirty="0"/>
              <a:t>90/10</a:t>
            </a:r>
            <a:r>
              <a:rPr lang="en-IN" dirty="0"/>
              <a:t>, batch size = 4, and early stopping with patience = 10 epochs.</a:t>
            </a:r>
          </a:p>
        </p:txBody>
      </p:sp>
      <p:pic>
        <p:nvPicPr>
          <p:cNvPr id="7" name="Picture 6">
            <a:extLst>
              <a:ext uri="{FF2B5EF4-FFF2-40B4-BE49-F238E27FC236}">
                <a16:creationId xmlns:a16="http://schemas.microsoft.com/office/drawing/2014/main" id="{02F7833C-D12D-3F4A-5A6E-44E53ADF4721}"/>
              </a:ext>
            </a:extLst>
          </p:cNvPr>
          <p:cNvPicPr>
            <a:picLocks noChangeAspect="1"/>
          </p:cNvPicPr>
          <p:nvPr/>
        </p:nvPicPr>
        <p:blipFill>
          <a:blip r:embed="rId3"/>
          <a:stretch>
            <a:fillRect/>
          </a:stretch>
        </p:blipFill>
        <p:spPr>
          <a:xfrm>
            <a:off x="6331976" y="1750170"/>
            <a:ext cx="5372256" cy="3357659"/>
          </a:xfrm>
          <a:prstGeom prst="rect">
            <a:avLst/>
          </a:prstGeom>
        </p:spPr>
      </p:pic>
    </p:spTree>
    <p:extLst>
      <p:ext uri="{BB962C8B-B14F-4D97-AF65-F5344CB8AC3E}">
        <p14:creationId xmlns:p14="http://schemas.microsoft.com/office/powerpoint/2010/main" val="3788668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613447" y="220176"/>
            <a:ext cx="10360152" cy="914400"/>
          </a:xfrm>
        </p:spPr>
        <p:txBody>
          <a:bodyPr/>
          <a:lstStyle/>
          <a:p>
            <a:r>
              <a:rPr lang="en-US" dirty="0"/>
              <a:t>Results</a:t>
            </a:r>
          </a:p>
        </p:txBody>
      </p:sp>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pic>
        <p:nvPicPr>
          <p:cNvPr id="13" name="Picture 12">
            <a:extLst>
              <a:ext uri="{FF2B5EF4-FFF2-40B4-BE49-F238E27FC236}">
                <a16:creationId xmlns:a16="http://schemas.microsoft.com/office/drawing/2014/main" id="{DC85FFD4-2788-1EEE-BC57-D918002B4209}"/>
              </a:ext>
            </a:extLst>
          </p:cNvPr>
          <p:cNvPicPr>
            <a:picLocks noChangeAspect="1"/>
          </p:cNvPicPr>
          <p:nvPr/>
        </p:nvPicPr>
        <p:blipFill>
          <a:blip r:embed="rId3"/>
          <a:stretch>
            <a:fillRect/>
          </a:stretch>
        </p:blipFill>
        <p:spPr>
          <a:xfrm>
            <a:off x="0" y="1247775"/>
            <a:ext cx="12192000" cy="2181225"/>
          </a:xfrm>
          <a:prstGeom prst="rect">
            <a:avLst/>
          </a:prstGeom>
        </p:spPr>
      </p:pic>
      <p:pic>
        <p:nvPicPr>
          <p:cNvPr id="3" name="Picture 2">
            <a:extLst>
              <a:ext uri="{FF2B5EF4-FFF2-40B4-BE49-F238E27FC236}">
                <a16:creationId xmlns:a16="http://schemas.microsoft.com/office/drawing/2014/main" id="{397984CA-164A-F32A-7785-29AEB49DC0CC}"/>
              </a:ext>
            </a:extLst>
          </p:cNvPr>
          <p:cNvPicPr>
            <a:picLocks noChangeAspect="1"/>
          </p:cNvPicPr>
          <p:nvPr/>
        </p:nvPicPr>
        <p:blipFill>
          <a:blip r:embed="rId4"/>
          <a:stretch>
            <a:fillRect/>
          </a:stretch>
        </p:blipFill>
        <p:spPr>
          <a:xfrm>
            <a:off x="0" y="4214125"/>
            <a:ext cx="12192000" cy="1907150"/>
          </a:xfrm>
          <a:prstGeom prst="rect">
            <a:avLst/>
          </a:prstGeom>
        </p:spPr>
      </p:pic>
      <p:sp>
        <p:nvSpPr>
          <p:cNvPr id="6" name="TextBox 5">
            <a:extLst>
              <a:ext uri="{FF2B5EF4-FFF2-40B4-BE49-F238E27FC236}">
                <a16:creationId xmlns:a16="http://schemas.microsoft.com/office/drawing/2014/main" id="{5A26EA8B-5E8E-D82D-907B-4C6974540355}"/>
              </a:ext>
            </a:extLst>
          </p:cNvPr>
          <p:cNvSpPr txBox="1"/>
          <p:nvPr/>
        </p:nvSpPr>
        <p:spPr>
          <a:xfrm>
            <a:off x="4001729" y="3458186"/>
            <a:ext cx="4699819" cy="369332"/>
          </a:xfrm>
          <a:prstGeom prst="rect">
            <a:avLst/>
          </a:prstGeom>
          <a:noFill/>
        </p:spPr>
        <p:txBody>
          <a:bodyPr wrap="square">
            <a:spAutoFit/>
          </a:bodyPr>
          <a:lstStyle/>
          <a:p>
            <a:r>
              <a:rPr lang="en-US" b="1" u="sng" dirty="0"/>
              <a:t>This model has Encoder with ResNet</a:t>
            </a:r>
            <a:endParaRPr lang="en-IN" b="1" u="sng" dirty="0"/>
          </a:p>
        </p:txBody>
      </p:sp>
      <p:sp>
        <p:nvSpPr>
          <p:cNvPr id="7" name="TextBox 6">
            <a:extLst>
              <a:ext uri="{FF2B5EF4-FFF2-40B4-BE49-F238E27FC236}">
                <a16:creationId xmlns:a16="http://schemas.microsoft.com/office/drawing/2014/main" id="{B3E890A9-3895-116A-DBF0-A0EB54EE9B77}"/>
              </a:ext>
            </a:extLst>
          </p:cNvPr>
          <p:cNvSpPr txBox="1"/>
          <p:nvPr/>
        </p:nvSpPr>
        <p:spPr>
          <a:xfrm>
            <a:off x="3805084" y="6143087"/>
            <a:ext cx="4581832" cy="369332"/>
          </a:xfrm>
          <a:prstGeom prst="rect">
            <a:avLst/>
          </a:prstGeom>
          <a:noFill/>
        </p:spPr>
        <p:txBody>
          <a:bodyPr wrap="square">
            <a:spAutoFit/>
          </a:bodyPr>
          <a:lstStyle/>
          <a:p>
            <a:r>
              <a:rPr lang="en-US" b="1" u="sng" dirty="0"/>
              <a:t>This model has Encoder with SwinTransformer</a:t>
            </a:r>
            <a:endParaRPr lang="en-IN" b="1" u="sng" dirty="0"/>
          </a:p>
        </p:txBody>
      </p:sp>
    </p:spTree>
    <p:extLst>
      <p:ext uri="{BB962C8B-B14F-4D97-AF65-F5344CB8AC3E}">
        <p14:creationId xmlns:p14="http://schemas.microsoft.com/office/powerpoint/2010/main" val="3064996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97F44-2BE9-E98D-0F50-045C3B33CF2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DF1D676-92C8-BBE4-AC87-CE94B47445F2}"/>
              </a:ext>
            </a:extLst>
          </p:cNvPr>
          <p:cNvSpPr>
            <a:spLocks noGrp="1"/>
          </p:cNvSpPr>
          <p:nvPr>
            <p:ph type="title"/>
          </p:nvPr>
        </p:nvSpPr>
        <p:spPr>
          <a:xfrm>
            <a:off x="780595" y="250987"/>
            <a:ext cx="10360152" cy="914400"/>
          </a:xfrm>
        </p:spPr>
        <p:txBody>
          <a:bodyPr/>
          <a:lstStyle/>
          <a:p>
            <a:r>
              <a:rPr lang="en-US" dirty="0"/>
              <a:t>Results of some of the best models </a:t>
            </a:r>
            <a:endParaRPr lang="en-US" sz="1600" dirty="0"/>
          </a:p>
        </p:txBody>
      </p:sp>
      <p:sp>
        <p:nvSpPr>
          <p:cNvPr id="4" name="Slide Number Placeholder 3">
            <a:extLst>
              <a:ext uri="{FF2B5EF4-FFF2-40B4-BE49-F238E27FC236}">
                <a16:creationId xmlns:a16="http://schemas.microsoft.com/office/drawing/2014/main" id="{14B20ABE-3709-6DDA-6F82-327E447AEB7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graphicFrame>
        <p:nvGraphicFramePr>
          <p:cNvPr id="5" name="Table Placeholder 4">
            <a:extLst>
              <a:ext uri="{FF2B5EF4-FFF2-40B4-BE49-F238E27FC236}">
                <a16:creationId xmlns:a16="http://schemas.microsoft.com/office/drawing/2014/main" id="{2BF37F3F-4E81-EEBA-1E94-12906EA58BEC}"/>
              </a:ext>
            </a:extLst>
          </p:cNvPr>
          <p:cNvGraphicFramePr>
            <a:graphicFrameLocks noGrp="1"/>
          </p:cNvGraphicFramePr>
          <p:nvPr>
            <p:ph type="tbl" sz="quarter" idx="14"/>
            <p:extLst>
              <p:ext uri="{D42A27DB-BD31-4B8C-83A1-F6EECF244321}">
                <p14:modId xmlns:p14="http://schemas.microsoft.com/office/powerpoint/2010/main" val="981918740"/>
              </p:ext>
            </p:extLst>
          </p:nvPr>
        </p:nvGraphicFramePr>
        <p:xfrm>
          <a:off x="809398" y="1165387"/>
          <a:ext cx="10573204" cy="5429958"/>
        </p:xfrm>
        <a:graphic>
          <a:graphicData uri="http://schemas.openxmlformats.org/drawingml/2006/table">
            <a:tbl>
              <a:tblPr firstRow="1" firstCol="1">
                <a:tableStyleId>{775DCB02-9BB8-47FD-8907-85C794F793BA}</a:tableStyleId>
              </a:tblPr>
              <a:tblGrid>
                <a:gridCol w="1195689">
                  <a:extLst>
                    <a:ext uri="{9D8B030D-6E8A-4147-A177-3AD203B41FA5}">
                      <a16:colId xmlns:a16="http://schemas.microsoft.com/office/drawing/2014/main" val="716211415"/>
                    </a:ext>
                  </a:extLst>
                </a:gridCol>
                <a:gridCol w="2045110">
                  <a:extLst>
                    <a:ext uri="{9D8B030D-6E8A-4147-A177-3AD203B41FA5}">
                      <a16:colId xmlns:a16="http://schemas.microsoft.com/office/drawing/2014/main" val="2299395651"/>
                    </a:ext>
                  </a:extLst>
                </a:gridCol>
                <a:gridCol w="2703871">
                  <a:extLst>
                    <a:ext uri="{9D8B030D-6E8A-4147-A177-3AD203B41FA5}">
                      <a16:colId xmlns:a16="http://schemas.microsoft.com/office/drawing/2014/main" val="265067626"/>
                    </a:ext>
                  </a:extLst>
                </a:gridCol>
                <a:gridCol w="2271251">
                  <a:extLst>
                    <a:ext uri="{9D8B030D-6E8A-4147-A177-3AD203B41FA5}">
                      <a16:colId xmlns:a16="http://schemas.microsoft.com/office/drawing/2014/main" val="509575628"/>
                    </a:ext>
                  </a:extLst>
                </a:gridCol>
                <a:gridCol w="2357283">
                  <a:extLst>
                    <a:ext uri="{9D8B030D-6E8A-4147-A177-3AD203B41FA5}">
                      <a16:colId xmlns:a16="http://schemas.microsoft.com/office/drawing/2014/main" val="1252420380"/>
                    </a:ext>
                  </a:extLst>
                </a:gridCol>
              </a:tblGrid>
              <a:tr h="302929">
                <a:tc>
                  <a:txBody>
                    <a:bodyPr/>
                    <a:lstStyle/>
                    <a:p>
                      <a:pPr>
                        <a:buNone/>
                      </a:pPr>
                      <a:r>
                        <a:rPr lang="en-IN" sz="1800" dirty="0"/>
                        <a:t>Class</a:t>
                      </a:r>
                    </a:p>
                  </a:txBody>
                  <a:tcPr marL="70313" marR="70313" marT="35157" marB="35157" anchor="ctr"/>
                </a:tc>
                <a:tc>
                  <a:txBody>
                    <a:bodyPr/>
                    <a:lstStyle/>
                    <a:p>
                      <a:pPr>
                        <a:buNone/>
                      </a:pPr>
                      <a:r>
                        <a:rPr lang="en-IN" sz="1800" dirty="0"/>
                        <a:t>ResNet Model(Baseline)</a:t>
                      </a:r>
                    </a:p>
                  </a:txBody>
                  <a:tcPr marL="70313" marR="70313" marT="35157" marB="35157" anchor="ctr"/>
                </a:tc>
                <a:tc>
                  <a:txBody>
                    <a:bodyPr/>
                    <a:lstStyle/>
                    <a:p>
                      <a:pPr>
                        <a:buNone/>
                      </a:pPr>
                      <a:r>
                        <a:rPr lang="en-IN" sz="1800" dirty="0"/>
                        <a:t>Swin transformer Model</a:t>
                      </a:r>
                    </a:p>
                    <a:p>
                      <a:pPr>
                        <a:buNone/>
                      </a:pPr>
                      <a:r>
                        <a:rPr lang="en-IN" sz="1800" dirty="0"/>
                        <a:t>With max_clicks = 3, depth=3</a:t>
                      </a:r>
                    </a:p>
                  </a:txBody>
                  <a:tcPr marL="70313" marR="70313" marT="35157" marB="3515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Swin Transformer model with max_clicks=6, depth =3</a:t>
                      </a:r>
                    </a:p>
                    <a:p>
                      <a:pPr>
                        <a:buNone/>
                      </a:pPr>
                      <a:endParaRPr lang="en-IN" sz="1800" dirty="0"/>
                    </a:p>
                  </a:txBody>
                  <a:tcPr marL="70313" marR="70313" marT="35157" marB="35157" anchor="ctr">
                    <a:solidFill>
                      <a:srgbClr val="92D050"/>
                    </a:solidFill>
                  </a:tcPr>
                </a:tc>
                <a:tc>
                  <a:txBody>
                    <a:bodyPr/>
                    <a:lstStyle/>
                    <a:p>
                      <a:pPr>
                        <a:buNone/>
                      </a:pPr>
                      <a:r>
                        <a:rPr lang="en-IN" sz="1800" dirty="0"/>
                        <a:t>Swin Transformer model with max_clicks=6, depth =4</a:t>
                      </a:r>
                    </a:p>
                  </a:txBody>
                  <a:tcPr marL="70313" marR="70313" marT="35157" marB="35157" anchor="ctr"/>
                </a:tc>
                <a:extLst>
                  <a:ext uri="{0D108BD9-81ED-4DB2-BD59-A6C34878D82A}">
                    <a16:rowId xmlns:a16="http://schemas.microsoft.com/office/drawing/2014/main" val="2491598145"/>
                  </a:ext>
                </a:extLst>
              </a:tr>
              <a:tr h="302929">
                <a:tc>
                  <a:txBody>
                    <a:bodyPr/>
                    <a:lstStyle/>
                    <a:p>
                      <a:pPr>
                        <a:buNone/>
                      </a:pPr>
                      <a:r>
                        <a:rPr lang="en-IN" sz="1800" b="1" dirty="0"/>
                        <a:t>Background</a:t>
                      </a:r>
                      <a:endParaRPr lang="en-IN" sz="1800" dirty="0"/>
                    </a:p>
                  </a:txBody>
                  <a:tcPr marL="70313" marR="70313" marT="35157" marB="35157" anchor="ctr"/>
                </a:tc>
                <a:tc>
                  <a:txBody>
                    <a:bodyPr/>
                    <a:lstStyle/>
                    <a:p>
                      <a:pPr>
                        <a:buNone/>
                      </a:pPr>
                      <a:r>
                        <a:rPr lang="en-IN" sz="1800" b="0" dirty="0"/>
                        <a:t>0.9980</a:t>
                      </a:r>
                    </a:p>
                  </a:txBody>
                  <a:tcPr marL="70313" marR="70313" marT="35157" marB="35157" anchor="ctr"/>
                </a:tc>
                <a:tc>
                  <a:txBody>
                    <a:bodyPr/>
                    <a:lstStyle/>
                    <a:p>
                      <a:pPr>
                        <a:buNone/>
                      </a:pPr>
                      <a:r>
                        <a:rPr lang="en-IN" sz="1800" dirty="0"/>
                        <a:t>0.9976</a:t>
                      </a:r>
                    </a:p>
                  </a:txBody>
                  <a:tcPr marL="70313" marR="70313" marT="35157" marB="35157" anchor="ctr"/>
                </a:tc>
                <a:tc>
                  <a:txBody>
                    <a:bodyPr/>
                    <a:lstStyle/>
                    <a:p>
                      <a:pPr>
                        <a:buNone/>
                      </a:pPr>
                      <a:r>
                        <a:rPr lang="en-IN" dirty="0"/>
                        <a:t>0.9985</a:t>
                      </a:r>
                      <a:endParaRPr lang="en-IN" sz="1800" dirty="0"/>
                    </a:p>
                  </a:txBody>
                  <a:tcPr marL="70313" marR="70313" marT="35157" marB="35157" anchor="ctr"/>
                </a:tc>
                <a:tc>
                  <a:txBody>
                    <a:bodyPr/>
                    <a:lstStyle/>
                    <a:p>
                      <a:pPr>
                        <a:buNone/>
                      </a:pPr>
                      <a:r>
                        <a:rPr lang="en-IN" sz="1800" dirty="0"/>
                        <a:t>0.9983</a:t>
                      </a:r>
                    </a:p>
                  </a:txBody>
                  <a:tcPr marL="70313" marR="70313" marT="35157" marB="35157" anchor="ctr"/>
                </a:tc>
                <a:extLst>
                  <a:ext uri="{0D108BD9-81ED-4DB2-BD59-A6C34878D82A}">
                    <a16:rowId xmlns:a16="http://schemas.microsoft.com/office/drawing/2014/main" val="4217175907"/>
                  </a:ext>
                </a:extLst>
              </a:tr>
              <a:tr h="302929">
                <a:tc>
                  <a:txBody>
                    <a:bodyPr/>
                    <a:lstStyle/>
                    <a:p>
                      <a:pPr>
                        <a:buNone/>
                      </a:pPr>
                      <a:r>
                        <a:rPr lang="en-IN" sz="1800" b="1"/>
                        <a:t>Esophagus</a:t>
                      </a:r>
                      <a:endParaRPr lang="en-IN" sz="1800"/>
                    </a:p>
                  </a:txBody>
                  <a:tcPr marL="70313" marR="70313" marT="35157" marB="35157" anchor="ctr"/>
                </a:tc>
                <a:tc>
                  <a:txBody>
                    <a:bodyPr/>
                    <a:lstStyle/>
                    <a:p>
                      <a:pPr>
                        <a:buNone/>
                      </a:pPr>
                      <a:r>
                        <a:rPr lang="en-IN" sz="1800" dirty="0"/>
                        <a:t>0.4079</a:t>
                      </a:r>
                    </a:p>
                  </a:txBody>
                  <a:tcPr marL="70313" marR="70313" marT="35157" marB="35157" anchor="ctr"/>
                </a:tc>
                <a:tc>
                  <a:txBody>
                    <a:bodyPr/>
                    <a:lstStyle/>
                    <a:p>
                      <a:pPr>
                        <a:buNone/>
                      </a:pPr>
                      <a:r>
                        <a:rPr lang="en-IN" sz="1800" dirty="0"/>
                        <a:t>0.2135</a:t>
                      </a:r>
                    </a:p>
                  </a:txBody>
                  <a:tcPr marL="70313" marR="70313" marT="35157" marB="35157" anchor="ctr"/>
                </a:tc>
                <a:tc>
                  <a:txBody>
                    <a:bodyPr/>
                    <a:lstStyle/>
                    <a:p>
                      <a:pPr>
                        <a:buNone/>
                      </a:pPr>
                      <a:r>
                        <a:rPr lang="en-IN" dirty="0"/>
                        <a:t>0.4019</a:t>
                      </a:r>
                    </a:p>
                  </a:txBody>
                  <a:tcPr anchor="ctr"/>
                </a:tc>
                <a:tc>
                  <a:txBody>
                    <a:bodyPr/>
                    <a:lstStyle/>
                    <a:p>
                      <a:pPr>
                        <a:buNone/>
                      </a:pPr>
                      <a:r>
                        <a:rPr lang="en-IN" sz="1800" dirty="0"/>
                        <a:t>0.4009</a:t>
                      </a:r>
                    </a:p>
                  </a:txBody>
                  <a:tcPr marL="70313" marR="70313" marT="35157" marB="35157" anchor="ctr"/>
                </a:tc>
                <a:extLst>
                  <a:ext uri="{0D108BD9-81ED-4DB2-BD59-A6C34878D82A}">
                    <a16:rowId xmlns:a16="http://schemas.microsoft.com/office/drawing/2014/main" val="2235695031"/>
                  </a:ext>
                </a:extLst>
              </a:tr>
              <a:tr h="302929">
                <a:tc>
                  <a:txBody>
                    <a:bodyPr/>
                    <a:lstStyle/>
                    <a:p>
                      <a:pPr>
                        <a:buNone/>
                      </a:pPr>
                      <a:r>
                        <a:rPr lang="en-IN" sz="1800" b="1"/>
                        <a:t>Lung_L</a:t>
                      </a:r>
                      <a:endParaRPr lang="en-IN" sz="1800"/>
                    </a:p>
                  </a:txBody>
                  <a:tcPr marL="70313" marR="70313" marT="35157" marB="35157" anchor="ctr"/>
                </a:tc>
                <a:tc>
                  <a:txBody>
                    <a:bodyPr/>
                    <a:lstStyle/>
                    <a:p>
                      <a:pPr>
                        <a:buNone/>
                      </a:pPr>
                      <a:r>
                        <a:rPr lang="en-IN" sz="1800"/>
                        <a:t>0.6572</a:t>
                      </a:r>
                    </a:p>
                  </a:txBody>
                  <a:tcPr marL="70313" marR="70313" marT="35157" marB="35157" anchor="ctr"/>
                </a:tc>
                <a:tc>
                  <a:txBody>
                    <a:bodyPr/>
                    <a:lstStyle/>
                    <a:p>
                      <a:pPr>
                        <a:buNone/>
                      </a:pPr>
                      <a:r>
                        <a:rPr lang="en-IN" sz="1800" dirty="0"/>
                        <a:t>0.7571</a:t>
                      </a:r>
                    </a:p>
                  </a:txBody>
                  <a:tcPr marL="70313" marR="70313" marT="35157" marB="35157" anchor="ctr"/>
                </a:tc>
                <a:tc>
                  <a:txBody>
                    <a:bodyPr/>
                    <a:lstStyle/>
                    <a:p>
                      <a:pPr>
                        <a:buNone/>
                      </a:pPr>
                      <a:r>
                        <a:rPr lang="en-IN" dirty="0"/>
                        <a:t>0.8602</a:t>
                      </a:r>
                      <a:endParaRPr lang="en-IN" sz="1800" dirty="0"/>
                    </a:p>
                  </a:txBody>
                  <a:tcPr marL="70313" marR="70313" marT="35157" marB="35157" anchor="ctr"/>
                </a:tc>
                <a:tc>
                  <a:txBody>
                    <a:bodyPr/>
                    <a:lstStyle/>
                    <a:p>
                      <a:pPr>
                        <a:buNone/>
                      </a:pPr>
                      <a:r>
                        <a:rPr lang="en-IN" sz="1800" dirty="0"/>
                        <a:t>0.8553</a:t>
                      </a:r>
                    </a:p>
                  </a:txBody>
                  <a:tcPr marL="70313" marR="70313" marT="35157" marB="35157" anchor="ctr"/>
                </a:tc>
                <a:extLst>
                  <a:ext uri="{0D108BD9-81ED-4DB2-BD59-A6C34878D82A}">
                    <a16:rowId xmlns:a16="http://schemas.microsoft.com/office/drawing/2014/main" val="462509083"/>
                  </a:ext>
                </a:extLst>
              </a:tr>
              <a:tr h="302929">
                <a:tc>
                  <a:txBody>
                    <a:bodyPr/>
                    <a:lstStyle/>
                    <a:p>
                      <a:pPr>
                        <a:buNone/>
                      </a:pPr>
                      <a:r>
                        <a:rPr lang="en-IN" sz="1800" b="1"/>
                        <a:t>Lung_R</a:t>
                      </a:r>
                      <a:endParaRPr lang="en-IN" sz="1800"/>
                    </a:p>
                  </a:txBody>
                  <a:tcPr marL="70313" marR="70313" marT="35157" marB="35157" anchor="ctr"/>
                </a:tc>
                <a:tc>
                  <a:txBody>
                    <a:bodyPr/>
                    <a:lstStyle/>
                    <a:p>
                      <a:pPr>
                        <a:buNone/>
                      </a:pPr>
                      <a:r>
                        <a:rPr lang="en-IN" sz="1800"/>
                        <a:t>0.7220</a:t>
                      </a:r>
                    </a:p>
                  </a:txBody>
                  <a:tcPr marL="70313" marR="70313" marT="35157" marB="35157" anchor="ctr"/>
                </a:tc>
                <a:tc>
                  <a:txBody>
                    <a:bodyPr/>
                    <a:lstStyle/>
                    <a:p>
                      <a:pPr>
                        <a:buNone/>
                      </a:pPr>
                      <a:r>
                        <a:rPr lang="en-IN" sz="1800" dirty="0"/>
                        <a:t>0.7794</a:t>
                      </a:r>
                    </a:p>
                  </a:txBody>
                  <a:tcPr marL="70313" marR="70313" marT="35157" marB="35157" anchor="ctr"/>
                </a:tc>
                <a:tc>
                  <a:txBody>
                    <a:bodyPr/>
                    <a:lstStyle/>
                    <a:p>
                      <a:pPr>
                        <a:buNone/>
                      </a:pPr>
                      <a:r>
                        <a:rPr lang="en-IN" dirty="0"/>
                        <a:t>0.8548</a:t>
                      </a:r>
                      <a:endParaRPr lang="en-IN" sz="1800" dirty="0"/>
                    </a:p>
                  </a:txBody>
                  <a:tcPr marL="70313" marR="70313" marT="35157" marB="35157" anchor="ctr"/>
                </a:tc>
                <a:tc>
                  <a:txBody>
                    <a:bodyPr/>
                    <a:lstStyle/>
                    <a:p>
                      <a:pPr>
                        <a:buNone/>
                      </a:pPr>
                      <a:r>
                        <a:rPr lang="en-IN" sz="1800" dirty="0"/>
                        <a:t>0.8535</a:t>
                      </a:r>
                    </a:p>
                  </a:txBody>
                  <a:tcPr marL="70313" marR="70313" marT="35157" marB="35157" anchor="ctr"/>
                </a:tc>
                <a:extLst>
                  <a:ext uri="{0D108BD9-81ED-4DB2-BD59-A6C34878D82A}">
                    <a16:rowId xmlns:a16="http://schemas.microsoft.com/office/drawing/2014/main" val="4184187539"/>
                  </a:ext>
                </a:extLst>
              </a:tr>
              <a:tr h="302929">
                <a:tc>
                  <a:txBody>
                    <a:bodyPr/>
                    <a:lstStyle/>
                    <a:p>
                      <a:pPr>
                        <a:buNone/>
                      </a:pPr>
                      <a:r>
                        <a:rPr lang="en-IN" sz="1800" b="1"/>
                        <a:t>Kidney_L</a:t>
                      </a:r>
                      <a:endParaRPr lang="en-IN" sz="1800"/>
                    </a:p>
                  </a:txBody>
                  <a:tcPr marL="70313" marR="70313" marT="35157" marB="35157" anchor="ctr"/>
                </a:tc>
                <a:tc>
                  <a:txBody>
                    <a:bodyPr/>
                    <a:lstStyle/>
                    <a:p>
                      <a:pPr>
                        <a:buNone/>
                      </a:pPr>
                      <a:r>
                        <a:rPr lang="en-IN" sz="1800"/>
                        <a:t>0.4505</a:t>
                      </a:r>
                    </a:p>
                  </a:txBody>
                  <a:tcPr marL="70313" marR="70313" marT="35157" marB="35157" anchor="ctr"/>
                </a:tc>
                <a:tc>
                  <a:txBody>
                    <a:bodyPr/>
                    <a:lstStyle/>
                    <a:p>
                      <a:pPr>
                        <a:buNone/>
                      </a:pPr>
                      <a:r>
                        <a:rPr lang="en-IN" sz="1800" dirty="0"/>
                        <a:t>0.4469</a:t>
                      </a:r>
                    </a:p>
                  </a:txBody>
                  <a:tcPr marL="70313" marR="70313" marT="35157" marB="35157" anchor="ctr"/>
                </a:tc>
                <a:tc>
                  <a:txBody>
                    <a:bodyPr/>
                    <a:lstStyle/>
                    <a:p>
                      <a:pPr>
                        <a:buNone/>
                      </a:pPr>
                      <a:r>
                        <a:rPr lang="en-IN" dirty="0"/>
                        <a:t>0.5923</a:t>
                      </a:r>
                    </a:p>
                  </a:txBody>
                  <a:tcPr anchor="ctr"/>
                </a:tc>
                <a:tc>
                  <a:txBody>
                    <a:bodyPr/>
                    <a:lstStyle/>
                    <a:p>
                      <a:pPr>
                        <a:buNone/>
                      </a:pPr>
                      <a:r>
                        <a:rPr lang="en-IN" sz="1800" dirty="0"/>
                        <a:t>0.5888</a:t>
                      </a:r>
                    </a:p>
                  </a:txBody>
                  <a:tcPr marL="70313" marR="70313" marT="35157" marB="35157" anchor="ctr"/>
                </a:tc>
                <a:extLst>
                  <a:ext uri="{0D108BD9-81ED-4DB2-BD59-A6C34878D82A}">
                    <a16:rowId xmlns:a16="http://schemas.microsoft.com/office/drawing/2014/main" val="1304262628"/>
                  </a:ext>
                </a:extLst>
              </a:tr>
              <a:tr h="302929">
                <a:tc>
                  <a:txBody>
                    <a:bodyPr/>
                    <a:lstStyle/>
                    <a:p>
                      <a:pPr>
                        <a:buNone/>
                      </a:pPr>
                      <a:r>
                        <a:rPr lang="en-IN" sz="1800" b="1"/>
                        <a:t>Kidney_R</a:t>
                      </a:r>
                      <a:endParaRPr lang="en-IN" sz="1800"/>
                    </a:p>
                  </a:txBody>
                  <a:tcPr marL="70313" marR="70313" marT="35157" marB="35157" anchor="ctr"/>
                </a:tc>
                <a:tc>
                  <a:txBody>
                    <a:bodyPr/>
                    <a:lstStyle/>
                    <a:p>
                      <a:pPr>
                        <a:buNone/>
                      </a:pPr>
                      <a:r>
                        <a:rPr lang="en-IN" sz="1800"/>
                        <a:t>0.3711</a:t>
                      </a:r>
                    </a:p>
                  </a:txBody>
                  <a:tcPr marL="70313" marR="70313" marT="35157" marB="35157" anchor="ctr"/>
                </a:tc>
                <a:tc>
                  <a:txBody>
                    <a:bodyPr/>
                    <a:lstStyle/>
                    <a:p>
                      <a:pPr>
                        <a:buNone/>
                      </a:pPr>
                      <a:r>
                        <a:rPr lang="en-IN" sz="1800" dirty="0"/>
                        <a:t> 0.4834</a:t>
                      </a:r>
                    </a:p>
                  </a:txBody>
                  <a:tcPr marL="70313" marR="70313" marT="35157" marB="35157" anchor="ctr"/>
                </a:tc>
                <a:tc>
                  <a:txBody>
                    <a:bodyPr/>
                    <a:lstStyle/>
                    <a:p>
                      <a:pPr>
                        <a:buNone/>
                      </a:pPr>
                      <a:r>
                        <a:rPr lang="en-IN" dirty="0"/>
                        <a:t>0.5644</a:t>
                      </a:r>
                    </a:p>
                  </a:txBody>
                  <a:tcPr anchor="ctr"/>
                </a:tc>
                <a:tc>
                  <a:txBody>
                    <a:bodyPr/>
                    <a:lstStyle/>
                    <a:p>
                      <a:pPr>
                        <a:buNone/>
                      </a:pPr>
                      <a:r>
                        <a:rPr lang="en-IN" sz="1800" dirty="0"/>
                        <a:t>0.5620</a:t>
                      </a:r>
                    </a:p>
                  </a:txBody>
                  <a:tcPr marL="70313" marR="70313" marT="35157" marB="35157" anchor="ctr"/>
                </a:tc>
                <a:extLst>
                  <a:ext uri="{0D108BD9-81ED-4DB2-BD59-A6C34878D82A}">
                    <a16:rowId xmlns:a16="http://schemas.microsoft.com/office/drawing/2014/main" val="3181219722"/>
                  </a:ext>
                </a:extLst>
              </a:tr>
              <a:tr h="302929">
                <a:tc>
                  <a:txBody>
                    <a:bodyPr/>
                    <a:lstStyle/>
                    <a:p>
                      <a:pPr>
                        <a:buNone/>
                      </a:pPr>
                      <a:r>
                        <a:rPr lang="en-IN" sz="1800" b="1"/>
                        <a:t>Stomach</a:t>
                      </a:r>
                      <a:endParaRPr lang="en-IN" sz="1800"/>
                    </a:p>
                  </a:txBody>
                  <a:tcPr marL="70313" marR="70313" marT="35157" marB="35157" anchor="ctr"/>
                </a:tc>
                <a:tc>
                  <a:txBody>
                    <a:bodyPr/>
                    <a:lstStyle/>
                    <a:p>
                      <a:pPr>
                        <a:buNone/>
                      </a:pPr>
                      <a:r>
                        <a:rPr lang="en-IN" sz="1800"/>
                        <a:t>0.2890</a:t>
                      </a:r>
                    </a:p>
                  </a:txBody>
                  <a:tcPr marL="70313" marR="70313" marT="35157" marB="35157" anchor="ctr"/>
                </a:tc>
                <a:tc>
                  <a:txBody>
                    <a:bodyPr/>
                    <a:lstStyle/>
                    <a:p>
                      <a:pPr>
                        <a:buNone/>
                      </a:pPr>
                      <a:r>
                        <a:rPr lang="en-IN" sz="1800" dirty="0"/>
                        <a:t> 0.4575</a:t>
                      </a:r>
                    </a:p>
                  </a:txBody>
                  <a:tcPr marL="70313" marR="70313" marT="35157" marB="35157" anchor="ctr"/>
                </a:tc>
                <a:tc>
                  <a:txBody>
                    <a:bodyPr/>
                    <a:lstStyle/>
                    <a:p>
                      <a:pPr>
                        <a:buNone/>
                      </a:pPr>
                      <a:r>
                        <a:rPr lang="en-IN" dirty="0"/>
                        <a:t>0.4859</a:t>
                      </a:r>
                    </a:p>
                  </a:txBody>
                  <a:tcPr anchor="ctr"/>
                </a:tc>
                <a:tc>
                  <a:txBody>
                    <a:bodyPr/>
                    <a:lstStyle/>
                    <a:p>
                      <a:pPr>
                        <a:buNone/>
                      </a:pPr>
                      <a:r>
                        <a:rPr lang="en-IN" sz="1800" dirty="0"/>
                        <a:t>0.4856</a:t>
                      </a:r>
                    </a:p>
                  </a:txBody>
                  <a:tcPr marL="70313" marR="70313" marT="35157" marB="35157" anchor="ctr"/>
                </a:tc>
                <a:extLst>
                  <a:ext uri="{0D108BD9-81ED-4DB2-BD59-A6C34878D82A}">
                    <a16:rowId xmlns:a16="http://schemas.microsoft.com/office/drawing/2014/main" val="1288647364"/>
                  </a:ext>
                </a:extLst>
              </a:tr>
              <a:tr h="302929">
                <a:tc>
                  <a:txBody>
                    <a:bodyPr/>
                    <a:lstStyle/>
                    <a:p>
                      <a:pPr>
                        <a:buNone/>
                      </a:pPr>
                      <a:r>
                        <a:rPr lang="en-IN" sz="1800" b="1"/>
                        <a:t>Liver</a:t>
                      </a:r>
                      <a:endParaRPr lang="en-IN" sz="1800"/>
                    </a:p>
                  </a:txBody>
                  <a:tcPr marL="70313" marR="70313" marT="35157" marB="35157" anchor="ctr"/>
                </a:tc>
                <a:tc>
                  <a:txBody>
                    <a:bodyPr/>
                    <a:lstStyle/>
                    <a:p>
                      <a:pPr>
                        <a:buNone/>
                      </a:pPr>
                      <a:r>
                        <a:rPr lang="en-IN" sz="1800"/>
                        <a:t>0.5526</a:t>
                      </a:r>
                    </a:p>
                  </a:txBody>
                  <a:tcPr marL="70313" marR="70313" marT="35157" marB="35157" anchor="ctr"/>
                </a:tc>
                <a:tc>
                  <a:txBody>
                    <a:bodyPr/>
                    <a:lstStyle/>
                    <a:p>
                      <a:pPr>
                        <a:buNone/>
                      </a:pPr>
                      <a:r>
                        <a:rPr lang="en-IN" sz="1800" dirty="0"/>
                        <a:t>0.7204</a:t>
                      </a:r>
                    </a:p>
                  </a:txBody>
                  <a:tcPr marL="70313" marR="70313" marT="35157" marB="35157" anchor="ctr"/>
                </a:tc>
                <a:tc>
                  <a:txBody>
                    <a:bodyPr/>
                    <a:lstStyle/>
                    <a:p>
                      <a:pPr>
                        <a:buNone/>
                      </a:pPr>
                      <a:r>
                        <a:rPr lang="en-IN" dirty="0"/>
                        <a:t>0.7625</a:t>
                      </a:r>
                      <a:endParaRPr lang="en-IN" sz="1800" dirty="0"/>
                    </a:p>
                  </a:txBody>
                  <a:tcPr marL="70313" marR="70313" marT="35157" marB="35157" anchor="ctr"/>
                </a:tc>
                <a:tc>
                  <a:txBody>
                    <a:bodyPr/>
                    <a:lstStyle/>
                    <a:p>
                      <a:pPr>
                        <a:buNone/>
                      </a:pPr>
                      <a:r>
                        <a:rPr lang="en-IN" sz="1800" dirty="0"/>
                        <a:t>0.7616</a:t>
                      </a:r>
                    </a:p>
                  </a:txBody>
                  <a:tcPr marL="70313" marR="70313" marT="35157" marB="35157" anchor="ctr"/>
                </a:tc>
                <a:extLst>
                  <a:ext uri="{0D108BD9-81ED-4DB2-BD59-A6C34878D82A}">
                    <a16:rowId xmlns:a16="http://schemas.microsoft.com/office/drawing/2014/main" val="39412305"/>
                  </a:ext>
                </a:extLst>
              </a:tr>
              <a:tr h="302929">
                <a:tc>
                  <a:txBody>
                    <a:bodyPr/>
                    <a:lstStyle/>
                    <a:p>
                      <a:pPr>
                        <a:buNone/>
                      </a:pPr>
                      <a:r>
                        <a:rPr lang="en-IN" sz="1800" b="1"/>
                        <a:t>Spleen</a:t>
                      </a:r>
                      <a:endParaRPr lang="en-IN" sz="1800"/>
                    </a:p>
                  </a:txBody>
                  <a:tcPr marL="70313" marR="70313" marT="35157" marB="35157" anchor="ctr"/>
                </a:tc>
                <a:tc>
                  <a:txBody>
                    <a:bodyPr/>
                    <a:lstStyle/>
                    <a:p>
                      <a:pPr>
                        <a:buNone/>
                      </a:pPr>
                      <a:r>
                        <a:rPr lang="en-IN" sz="1800"/>
                        <a:t>0.2603</a:t>
                      </a:r>
                    </a:p>
                  </a:txBody>
                  <a:tcPr marL="70313" marR="70313" marT="35157" marB="35157" anchor="ctr"/>
                </a:tc>
                <a:tc>
                  <a:txBody>
                    <a:bodyPr/>
                    <a:lstStyle/>
                    <a:p>
                      <a:pPr>
                        <a:buNone/>
                      </a:pPr>
                      <a:r>
                        <a:rPr lang="en-IN" sz="1800" dirty="0"/>
                        <a:t>0.5349</a:t>
                      </a:r>
                    </a:p>
                  </a:txBody>
                  <a:tcPr marL="70313" marR="70313" marT="35157" marB="35157" anchor="ctr"/>
                </a:tc>
                <a:tc>
                  <a:txBody>
                    <a:bodyPr/>
                    <a:lstStyle/>
                    <a:p>
                      <a:pPr>
                        <a:buNone/>
                      </a:pPr>
                      <a:r>
                        <a:rPr lang="en-IN" dirty="0"/>
                        <a:t>0.5898</a:t>
                      </a:r>
                      <a:endParaRPr lang="en-IN" sz="1800" dirty="0"/>
                    </a:p>
                  </a:txBody>
                  <a:tcPr marL="70313" marR="70313" marT="35157" marB="35157" anchor="ctr"/>
                </a:tc>
                <a:tc>
                  <a:txBody>
                    <a:bodyPr/>
                    <a:lstStyle/>
                    <a:p>
                      <a:pPr>
                        <a:buNone/>
                      </a:pPr>
                      <a:r>
                        <a:rPr lang="en-IN" sz="1800" dirty="0"/>
                        <a:t>0.5886</a:t>
                      </a:r>
                    </a:p>
                  </a:txBody>
                  <a:tcPr marL="70313" marR="70313" marT="35157" marB="35157" anchor="ctr"/>
                </a:tc>
                <a:extLst>
                  <a:ext uri="{0D108BD9-81ED-4DB2-BD59-A6C34878D82A}">
                    <a16:rowId xmlns:a16="http://schemas.microsoft.com/office/drawing/2014/main" val="3761976915"/>
                  </a:ext>
                </a:extLst>
              </a:tr>
              <a:tr h="302929">
                <a:tc>
                  <a:txBody>
                    <a:bodyPr/>
                    <a:lstStyle/>
                    <a:p>
                      <a:pPr>
                        <a:buNone/>
                      </a:pPr>
                      <a:r>
                        <a:rPr lang="en-IN" sz="1800" b="1"/>
                        <a:t>Pancreas</a:t>
                      </a:r>
                      <a:endParaRPr lang="en-IN" sz="1800"/>
                    </a:p>
                  </a:txBody>
                  <a:tcPr marL="70313" marR="70313" marT="35157" marB="35157" anchor="ctr"/>
                </a:tc>
                <a:tc>
                  <a:txBody>
                    <a:bodyPr/>
                    <a:lstStyle/>
                    <a:p>
                      <a:pPr>
                        <a:buNone/>
                      </a:pPr>
                      <a:r>
                        <a:rPr lang="en-IN" sz="1800"/>
                        <a:t>0.2520</a:t>
                      </a:r>
                    </a:p>
                  </a:txBody>
                  <a:tcPr marL="70313" marR="70313" marT="35157" marB="35157" anchor="ctr"/>
                </a:tc>
                <a:tc>
                  <a:txBody>
                    <a:bodyPr/>
                    <a:lstStyle/>
                    <a:p>
                      <a:pPr>
                        <a:buNone/>
                      </a:pPr>
                      <a:r>
                        <a:rPr lang="en-IN" sz="1800" dirty="0"/>
                        <a:t>0.2819</a:t>
                      </a:r>
                    </a:p>
                  </a:txBody>
                  <a:tcPr marL="70313" marR="70313" marT="35157" marB="35157" anchor="ctr"/>
                </a:tc>
                <a:tc>
                  <a:txBody>
                    <a:bodyPr/>
                    <a:lstStyle/>
                    <a:p>
                      <a:pPr>
                        <a:buNone/>
                      </a:pPr>
                      <a:r>
                        <a:rPr lang="en-IN" dirty="0"/>
                        <a:t>0.3125</a:t>
                      </a:r>
                      <a:endParaRPr lang="en-IN" sz="1800" dirty="0"/>
                    </a:p>
                  </a:txBody>
                  <a:tcPr marL="70313" marR="70313" marT="35157" marB="35157" anchor="ctr"/>
                </a:tc>
                <a:tc>
                  <a:txBody>
                    <a:bodyPr/>
                    <a:lstStyle/>
                    <a:p>
                      <a:pPr>
                        <a:buNone/>
                      </a:pPr>
                      <a:r>
                        <a:rPr lang="en-IN" sz="1800" dirty="0"/>
                        <a:t>0.3120</a:t>
                      </a:r>
                    </a:p>
                  </a:txBody>
                  <a:tcPr marL="70313" marR="70313" marT="35157" marB="35157" anchor="ctr"/>
                </a:tc>
                <a:extLst>
                  <a:ext uri="{0D108BD9-81ED-4DB2-BD59-A6C34878D82A}">
                    <a16:rowId xmlns:a16="http://schemas.microsoft.com/office/drawing/2014/main" val="857142104"/>
                  </a:ext>
                </a:extLst>
              </a:tr>
              <a:tr h="302929">
                <a:tc>
                  <a:txBody>
                    <a:bodyPr/>
                    <a:lstStyle/>
                    <a:p>
                      <a:pPr>
                        <a:buNone/>
                      </a:pPr>
                      <a:r>
                        <a:rPr lang="en-IN" sz="1800" b="1" dirty="0"/>
                        <a:t>Intestine</a:t>
                      </a:r>
                      <a:endParaRPr lang="en-IN" sz="1800" dirty="0"/>
                    </a:p>
                  </a:txBody>
                  <a:tcPr marL="70313" marR="70313" marT="35157" marB="35157" anchor="ctr"/>
                </a:tc>
                <a:tc>
                  <a:txBody>
                    <a:bodyPr/>
                    <a:lstStyle/>
                    <a:p>
                      <a:pPr>
                        <a:buNone/>
                      </a:pPr>
                      <a:r>
                        <a:rPr lang="en-IN" sz="1800" dirty="0"/>
                        <a:t>0.4579</a:t>
                      </a:r>
                    </a:p>
                  </a:txBody>
                  <a:tcPr marL="70313" marR="70313" marT="35157" marB="35157" anchor="ctr"/>
                </a:tc>
                <a:tc>
                  <a:txBody>
                    <a:bodyPr/>
                    <a:lstStyle/>
                    <a:p>
                      <a:pPr>
                        <a:buNone/>
                      </a:pPr>
                      <a:r>
                        <a:rPr lang="en-IN" sz="1800" dirty="0"/>
                        <a:t>0.5659</a:t>
                      </a:r>
                    </a:p>
                  </a:txBody>
                  <a:tcPr marL="70313" marR="70313" marT="35157" marB="35157" anchor="ctr"/>
                </a:tc>
                <a:tc>
                  <a:txBody>
                    <a:bodyPr/>
                    <a:lstStyle/>
                    <a:p>
                      <a:pPr>
                        <a:buNone/>
                      </a:pPr>
                      <a:r>
                        <a:rPr lang="en-IN" dirty="0"/>
                        <a:t>0.6216</a:t>
                      </a:r>
                    </a:p>
                  </a:txBody>
                  <a:tcPr anchor="ctr"/>
                </a:tc>
                <a:tc>
                  <a:txBody>
                    <a:bodyPr/>
                    <a:lstStyle/>
                    <a:p>
                      <a:pPr>
                        <a:buNone/>
                      </a:pPr>
                      <a:r>
                        <a:rPr lang="en-IN" sz="1800" dirty="0"/>
                        <a:t>0.6103</a:t>
                      </a:r>
                    </a:p>
                  </a:txBody>
                  <a:tcPr marL="70313" marR="70313" marT="35157" marB="35157" anchor="ctr"/>
                </a:tc>
                <a:extLst>
                  <a:ext uri="{0D108BD9-81ED-4DB2-BD59-A6C34878D82A}">
                    <a16:rowId xmlns:a16="http://schemas.microsoft.com/office/drawing/2014/main" val="2767394117"/>
                  </a:ext>
                </a:extLst>
              </a:tr>
              <a:tr h="302929">
                <a:tc>
                  <a:txBody>
                    <a:bodyPr/>
                    <a:lstStyle/>
                    <a:p>
                      <a:pPr>
                        <a:buNone/>
                      </a:pPr>
                      <a:r>
                        <a:rPr lang="en-IN" sz="1800" dirty="0"/>
                        <a:t>Overall </a:t>
                      </a:r>
                      <a:r>
                        <a:rPr lang="en-IN" sz="1800" dirty="0" err="1"/>
                        <a:t>Avg</a:t>
                      </a:r>
                      <a:endParaRPr lang="en-IN" sz="1800" dirty="0"/>
                    </a:p>
                  </a:txBody>
                  <a:tcPr marL="70313" marR="70313" marT="35157" marB="35157" anchor="ctr">
                    <a:solidFill>
                      <a:schemeClr val="tx2">
                        <a:lumMod val="40000"/>
                        <a:lumOff val="60000"/>
                      </a:schemeClr>
                    </a:solidFill>
                  </a:tcPr>
                </a:tc>
                <a:tc>
                  <a:txBody>
                    <a:bodyPr/>
                    <a:lstStyle/>
                    <a:p>
                      <a:pPr>
                        <a:buNone/>
                      </a:pPr>
                      <a:r>
                        <a:rPr lang="en-IN" sz="1800" dirty="0"/>
                        <a:t>0.4926</a:t>
                      </a:r>
                    </a:p>
                  </a:txBody>
                  <a:tcPr marL="70313" marR="70313" marT="35157" marB="35157" anchor="ctr">
                    <a:solidFill>
                      <a:schemeClr val="tx2">
                        <a:lumMod val="40000"/>
                        <a:lumOff val="60000"/>
                      </a:schemeClr>
                    </a:solidFill>
                  </a:tcPr>
                </a:tc>
                <a:tc>
                  <a:txBody>
                    <a:bodyPr/>
                    <a:lstStyle/>
                    <a:p>
                      <a:pPr>
                        <a:buNone/>
                      </a:pPr>
                      <a:r>
                        <a:rPr lang="en-IN" sz="1800" dirty="0"/>
                        <a:t>0.5671</a:t>
                      </a:r>
                    </a:p>
                  </a:txBody>
                  <a:tcPr marL="70313" marR="70313" marT="35157" marB="35157" anchor="ctr">
                    <a:solidFill>
                      <a:schemeClr val="tx2">
                        <a:lumMod val="40000"/>
                        <a:lumOff val="60000"/>
                      </a:schemeClr>
                    </a:solidFill>
                  </a:tcPr>
                </a:tc>
                <a:tc>
                  <a:txBody>
                    <a:bodyPr/>
                    <a:lstStyle/>
                    <a:p>
                      <a:pPr>
                        <a:buNone/>
                      </a:pPr>
                      <a:r>
                        <a:rPr lang="en-IN" dirty="0"/>
                        <a:t>0.6404</a:t>
                      </a:r>
                    </a:p>
                  </a:txBody>
                  <a:tcPr anchor="ctr">
                    <a:solidFill>
                      <a:schemeClr val="tx2">
                        <a:lumMod val="40000"/>
                        <a:lumOff val="60000"/>
                      </a:schemeClr>
                    </a:solidFill>
                  </a:tcPr>
                </a:tc>
                <a:tc>
                  <a:txBody>
                    <a:bodyPr/>
                    <a:lstStyle/>
                    <a:p>
                      <a:pPr>
                        <a:buNone/>
                      </a:pPr>
                      <a:r>
                        <a:rPr lang="en-IN" sz="1800" dirty="0"/>
                        <a:t>0.6370</a:t>
                      </a:r>
                    </a:p>
                  </a:txBody>
                  <a:tcPr marL="70313" marR="70313" marT="35157" marB="35157" anchor="ctr">
                    <a:solidFill>
                      <a:schemeClr val="tx2">
                        <a:lumMod val="40000"/>
                        <a:lumOff val="60000"/>
                      </a:schemeClr>
                    </a:solidFill>
                  </a:tcPr>
                </a:tc>
                <a:extLst>
                  <a:ext uri="{0D108BD9-81ED-4DB2-BD59-A6C34878D82A}">
                    <a16:rowId xmlns:a16="http://schemas.microsoft.com/office/drawing/2014/main" val="1084783293"/>
                  </a:ext>
                </a:extLst>
              </a:tr>
            </a:tbl>
          </a:graphicData>
        </a:graphic>
      </p:graphicFrame>
    </p:spTree>
    <p:extLst>
      <p:ext uri="{BB962C8B-B14F-4D97-AF65-F5344CB8AC3E}">
        <p14:creationId xmlns:p14="http://schemas.microsoft.com/office/powerpoint/2010/main" val="54561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96D1-D9A7-3D1A-BD6A-921F778CCA5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E5605B1-4CF6-8FFE-947F-17FC7B3D2B6E}"/>
              </a:ext>
            </a:extLst>
          </p:cNvPr>
          <p:cNvSpPr>
            <a:spLocks noGrp="1"/>
          </p:cNvSpPr>
          <p:nvPr>
            <p:ph type="title"/>
          </p:nvPr>
        </p:nvSpPr>
        <p:spPr>
          <a:xfrm>
            <a:off x="780595" y="250987"/>
            <a:ext cx="10360152" cy="914400"/>
          </a:xfrm>
        </p:spPr>
        <p:txBody>
          <a:bodyPr/>
          <a:lstStyle/>
          <a:p>
            <a:r>
              <a:rPr lang="en-US" sz="4400" dirty="0"/>
              <a:t>Observations</a:t>
            </a:r>
          </a:p>
        </p:txBody>
      </p:sp>
      <p:sp>
        <p:nvSpPr>
          <p:cNvPr id="4" name="Slide Number Placeholder 3">
            <a:extLst>
              <a:ext uri="{FF2B5EF4-FFF2-40B4-BE49-F238E27FC236}">
                <a16:creationId xmlns:a16="http://schemas.microsoft.com/office/drawing/2014/main" id="{073068DC-5E4D-7804-9472-C4DBFED5E27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
        <p:nvSpPr>
          <p:cNvPr id="6" name="Content Placeholder 2">
            <a:extLst>
              <a:ext uri="{FF2B5EF4-FFF2-40B4-BE49-F238E27FC236}">
                <a16:creationId xmlns:a16="http://schemas.microsoft.com/office/drawing/2014/main" id="{CF14053E-07C5-C532-3A16-328F9C654EA8}"/>
              </a:ext>
            </a:extLst>
          </p:cNvPr>
          <p:cNvSpPr txBox="1">
            <a:spLocks/>
          </p:cNvSpPr>
          <p:nvPr/>
        </p:nvSpPr>
        <p:spPr>
          <a:xfrm>
            <a:off x="554452" y="1307936"/>
            <a:ext cx="11234621" cy="20055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Swin Transformer -based model produced strong initial predictions, noticeably better than those from the ResNet based model. As a result, the percentage improvement in accuracy for the Swin model was significantly lower.</a:t>
            </a:r>
          </a:p>
          <a:p>
            <a:r>
              <a:rPr lang="en-US" sz="2400" dirty="0"/>
              <a:t>Across the ‘D’ (3/4) rounds, the dice scores showed substantial improvement in the ResNet model, whereas the Swin model exhibited only limited gains.</a:t>
            </a:r>
          </a:p>
        </p:txBody>
      </p:sp>
      <p:pic>
        <p:nvPicPr>
          <p:cNvPr id="7" name="Picture 6">
            <a:extLst>
              <a:ext uri="{FF2B5EF4-FFF2-40B4-BE49-F238E27FC236}">
                <a16:creationId xmlns:a16="http://schemas.microsoft.com/office/drawing/2014/main" id="{FA99363D-B141-CB80-F567-5FE9A517CEDD}"/>
              </a:ext>
            </a:extLst>
          </p:cNvPr>
          <p:cNvPicPr>
            <a:picLocks noChangeAspect="1"/>
          </p:cNvPicPr>
          <p:nvPr/>
        </p:nvPicPr>
        <p:blipFill>
          <a:blip r:embed="rId3"/>
          <a:stretch>
            <a:fillRect/>
          </a:stretch>
        </p:blipFill>
        <p:spPr>
          <a:xfrm>
            <a:off x="1495942" y="3665067"/>
            <a:ext cx="3887576" cy="2915682"/>
          </a:xfrm>
          <a:prstGeom prst="rect">
            <a:avLst/>
          </a:prstGeom>
        </p:spPr>
      </p:pic>
      <p:pic>
        <p:nvPicPr>
          <p:cNvPr id="9" name="Picture 8">
            <a:extLst>
              <a:ext uri="{FF2B5EF4-FFF2-40B4-BE49-F238E27FC236}">
                <a16:creationId xmlns:a16="http://schemas.microsoft.com/office/drawing/2014/main" id="{9E1C2395-93A1-3F9B-C208-536252677B06}"/>
              </a:ext>
            </a:extLst>
          </p:cNvPr>
          <p:cNvPicPr>
            <a:picLocks noChangeAspect="1"/>
          </p:cNvPicPr>
          <p:nvPr/>
        </p:nvPicPr>
        <p:blipFill>
          <a:blip r:embed="rId4"/>
          <a:stretch>
            <a:fillRect/>
          </a:stretch>
        </p:blipFill>
        <p:spPr>
          <a:xfrm>
            <a:off x="6095999" y="3759698"/>
            <a:ext cx="4454013" cy="2774909"/>
          </a:xfrm>
          <a:prstGeom prst="rect">
            <a:avLst/>
          </a:prstGeom>
        </p:spPr>
      </p:pic>
      <p:sp>
        <p:nvSpPr>
          <p:cNvPr id="11" name="TextBox 10">
            <a:extLst>
              <a:ext uri="{FF2B5EF4-FFF2-40B4-BE49-F238E27FC236}">
                <a16:creationId xmlns:a16="http://schemas.microsoft.com/office/drawing/2014/main" id="{AEDFDBD0-62AD-3EFA-8CF0-4470717B2674}"/>
              </a:ext>
            </a:extLst>
          </p:cNvPr>
          <p:cNvSpPr txBox="1"/>
          <p:nvPr/>
        </p:nvSpPr>
        <p:spPr>
          <a:xfrm>
            <a:off x="2064774" y="3864077"/>
            <a:ext cx="1821122" cy="369332"/>
          </a:xfrm>
          <a:prstGeom prst="rect">
            <a:avLst/>
          </a:prstGeom>
          <a:noFill/>
        </p:spPr>
        <p:txBody>
          <a:bodyPr wrap="square" rtlCol="0">
            <a:spAutoFit/>
          </a:bodyPr>
          <a:lstStyle/>
          <a:p>
            <a:r>
              <a:rPr lang="en-IN" dirty="0"/>
              <a:t>(Swin model)</a:t>
            </a:r>
          </a:p>
        </p:txBody>
      </p:sp>
    </p:spTree>
    <p:extLst>
      <p:ext uri="{BB962C8B-B14F-4D97-AF65-F5344CB8AC3E}">
        <p14:creationId xmlns:p14="http://schemas.microsoft.com/office/powerpoint/2010/main" val="2584979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63EE4-EE15-40BB-A458-119D7C67D0D5}"/>
              </a:ext>
            </a:extLst>
          </p:cNvPr>
          <p:cNvSpPr>
            <a:spLocks noGrp="1"/>
          </p:cNvSpPr>
          <p:nvPr>
            <p:ph type="title"/>
          </p:nvPr>
        </p:nvSpPr>
        <p:spPr>
          <a:xfrm>
            <a:off x="452284" y="658762"/>
            <a:ext cx="10360152" cy="914400"/>
          </a:xfrm>
        </p:spPr>
        <p:txBody>
          <a:bodyPr/>
          <a:lstStyle/>
          <a:p>
            <a:r>
              <a:rPr lang="en-IN" dirty="0"/>
              <a:t>FUTURE SCOPE</a:t>
            </a:r>
          </a:p>
        </p:txBody>
      </p:sp>
      <p:sp>
        <p:nvSpPr>
          <p:cNvPr id="4" name="Slide Number Placeholder 3">
            <a:extLst>
              <a:ext uri="{FF2B5EF4-FFF2-40B4-BE49-F238E27FC236}">
                <a16:creationId xmlns:a16="http://schemas.microsoft.com/office/drawing/2014/main" id="{87E3D518-5553-D6C7-9E32-1DE7785908AE}"/>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
        <p:nvSpPr>
          <p:cNvPr id="6" name="TextBox 5">
            <a:extLst>
              <a:ext uri="{FF2B5EF4-FFF2-40B4-BE49-F238E27FC236}">
                <a16:creationId xmlns:a16="http://schemas.microsoft.com/office/drawing/2014/main" id="{DF634571-CEAD-C4D5-57B9-051E104DE26B}"/>
              </a:ext>
            </a:extLst>
          </p:cNvPr>
          <p:cNvSpPr txBox="1"/>
          <p:nvPr/>
        </p:nvSpPr>
        <p:spPr>
          <a:xfrm>
            <a:off x="452284" y="1697390"/>
            <a:ext cx="11218607" cy="4401205"/>
          </a:xfrm>
          <a:prstGeom prst="rect">
            <a:avLst/>
          </a:prstGeom>
          <a:noFill/>
        </p:spPr>
        <p:txBody>
          <a:bodyPr wrap="square">
            <a:spAutoFit/>
          </a:bodyPr>
          <a:lstStyle/>
          <a:p>
            <a:r>
              <a:rPr lang="en-US" sz="2000" b="1" dirty="0"/>
              <a:t>Patient-consistent attention across slices:</a:t>
            </a:r>
            <a:br>
              <a:rPr lang="en-US" sz="2000" dirty="0"/>
            </a:br>
            <a:r>
              <a:rPr lang="en-US" sz="2000" dirty="0"/>
              <a:t>Instead of mixing slices from all patients during training, future systems can model attention across adjacent slices </a:t>
            </a:r>
            <a:r>
              <a:rPr lang="en-US" sz="2000" i="1" dirty="0"/>
              <a:t>within the same patient</a:t>
            </a:r>
            <a:r>
              <a:rPr lang="en-US" sz="2000" dirty="0"/>
              <a:t>. This would capture anatomical continuity and significantly improve organ boundary consistency.</a:t>
            </a:r>
          </a:p>
          <a:p>
            <a:r>
              <a:rPr lang="en-US" sz="2000" b="1" dirty="0"/>
              <a:t>Improved and balanced dataset:</a:t>
            </a:r>
            <a:br>
              <a:rPr lang="en-US" sz="2000" dirty="0"/>
            </a:br>
            <a:r>
              <a:rPr lang="en-US" sz="2000" dirty="0"/>
              <a:t>The current dataset is highly imbalanced, with several organs under-represented. A more balanced dataset or targeted data collection for smaller structures, would reduce bias and improve per-class Dice stability.</a:t>
            </a:r>
          </a:p>
          <a:p>
            <a:r>
              <a:rPr lang="en-US" sz="2000" b="1" dirty="0"/>
              <a:t>SAM2-inspired prompt fusion for SIM history:</a:t>
            </a:r>
            <a:br>
              <a:rPr lang="en-US" sz="2000" dirty="0"/>
            </a:br>
            <a:r>
              <a:rPr lang="en-US" sz="2000" dirty="0"/>
              <a:t>Future work could fuse SIM-Encoder click maps with probability maps to form richer prompt embeddings using temporal multi-head attention, inspired by SAM2. This would let the model leverage interaction history more effectively and produce sharper, more stable corrections.</a:t>
            </a:r>
          </a:p>
          <a:p>
            <a:r>
              <a:rPr lang="en-US" sz="2000" b="1" dirty="0"/>
              <a:t>Deformable attention in the decoder:</a:t>
            </a:r>
            <a:br>
              <a:rPr lang="en-US" sz="2000" dirty="0"/>
            </a:br>
            <a:r>
              <a:rPr lang="en-US" sz="2000" dirty="0"/>
              <a:t>Adding deformable attention to the decoder would allow spatially flexible feature aggregation. This can help the model focus on fine-grained, irregular structures and improve segmentation of small or complex organs.</a:t>
            </a:r>
          </a:p>
        </p:txBody>
      </p:sp>
    </p:spTree>
    <p:extLst>
      <p:ext uri="{BB962C8B-B14F-4D97-AF65-F5344CB8AC3E}">
        <p14:creationId xmlns:p14="http://schemas.microsoft.com/office/powerpoint/2010/main" val="354147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t>Cherish Jain</a:t>
            </a:r>
          </a:p>
          <a:p>
            <a:r>
              <a:rPr lang="en-US" dirty="0"/>
              <a:t>22b3937</a:t>
            </a:r>
          </a:p>
          <a:p>
            <a:r>
              <a:rPr lang="en-US" dirty="0"/>
              <a:t>+91 8504082815</a:t>
            </a:r>
          </a:p>
          <a:p>
            <a:r>
              <a:rPr lang="en-US" dirty="0"/>
              <a:t>cherishjain01@gmail.com</a:t>
            </a:r>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{BC993328-9B2B-4293-8C63-4416F25258DC}tf11964407_win32</Template>
  <TotalTime>2151</TotalTime>
  <Words>2148</Words>
  <Application>Microsoft Office PowerPoint</Application>
  <PresentationFormat>Widescreen</PresentationFormat>
  <Paragraphs>220</Paragraphs>
  <Slides>18</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Agency FB</vt:lpstr>
      <vt:lpstr>Arial</vt:lpstr>
      <vt:lpstr>Calibri</vt:lpstr>
      <vt:lpstr>Candara</vt:lpstr>
      <vt:lpstr>Courier New</vt:lpstr>
      <vt:lpstr>Gill Sans Nova Light</vt:lpstr>
      <vt:lpstr>Sagona Book</vt:lpstr>
      <vt:lpstr>Wingdings</vt:lpstr>
      <vt:lpstr>Custom</vt:lpstr>
      <vt:lpstr>EE 451 Supervised Research Exposition (SRE)  3d Interactive Segmentation  Guide: Prof. Amit Sethi </vt:lpstr>
      <vt:lpstr>INTRODUCTION &amp; CHALLENGES</vt:lpstr>
      <vt:lpstr>Existing Research &amp;  Their Shortcomings</vt:lpstr>
      <vt:lpstr>PowerPoint Presentation</vt:lpstr>
      <vt:lpstr>A Novel Idea by I. Mikhailov, B. Chauveau, N. Bourdel et al.</vt:lpstr>
      <vt:lpstr> SIM</vt:lpstr>
      <vt:lpstr>U-Net–style encoder-decoder: Complete Model Pipeline</vt:lpstr>
      <vt:lpstr>U-Net–style encoder-decoder: Complete Model Pipeline</vt:lpstr>
      <vt:lpstr>Complete Model Pipeline</vt:lpstr>
      <vt:lpstr>Dataset</vt:lpstr>
      <vt:lpstr>Methods &amp; Experiments </vt:lpstr>
      <vt:lpstr>Architecture modifications made to use Swin Transformer </vt:lpstr>
      <vt:lpstr>Training methods </vt:lpstr>
      <vt:lpstr>Results</vt:lpstr>
      <vt:lpstr>Results of some of the best models </vt:lpstr>
      <vt:lpstr>Observations</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Cherish Jain</dc:creator>
  <cp:lastModifiedBy>Cherish Jain</cp:lastModifiedBy>
  <cp:revision>11</cp:revision>
  <dcterms:created xsi:type="dcterms:W3CDTF">2025-11-10T09:07:35Z</dcterms:created>
  <dcterms:modified xsi:type="dcterms:W3CDTF">2025-11-25T08:57:08Z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